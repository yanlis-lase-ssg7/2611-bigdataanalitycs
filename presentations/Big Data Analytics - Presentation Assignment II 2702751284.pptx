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50022C-7617-4486-A614-DE9E0064DAC0}" type="datetimeFigureOut">
              <a:rPr lang="en-ID" smtClean="0"/>
              <a:t>19/10/2026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2BEE6-6588-458A-A953-5EBE6DFB96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7512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/>
              <a:t>Pembukaan. Jelaskan masalah dan cakupan, bukan klaim kesiapan produksi.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2BEE6-6588-458A-A953-5EBE6DFB963F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7240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/>
              <a:t>Tekankan dampak layanan dan perbedaan review sebagai asosiasi.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2BEE6-6588-458A-A953-5EBE6DFB963F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9354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Jelaskan validasi dan bahwa Spark berjalan lokal pada satu mesin.</a:t>
            </a:r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2BEE6-6588-458A-A953-5EBE6DFB963F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2250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/>
              <a:t>Jangan menyebut feature importance sebagai bukti kausal.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2BEE6-6588-458A-A953-5EBE6DFB963F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6612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/>
              <a:t>Perbedaan model bukan perbandingan murni framework; algoritma LR juga berbeda.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2BEE6-6588-458A-A953-5EBE6DFB963F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8809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/>
              <a:t>Sampaikan penurunan F1 temporal sebagai observasi. Penyebabnya belum dibuktikan.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2BEE6-6588-458A-A953-5EBE6DFB963F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6200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/>
              <a:t>Prioritas mahasiswa adalah mengurangi false positive; tetap perlu kapasitas dan kriteria bisnis nyata.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2BEE6-6588-458A-A953-5EBE6DFB963F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7501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/>
              <a:t>Jangan menyebut edge sebagai jalur transit atau lokasi hub fisik.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2BEE6-6588-458A-A953-5EBE6DFB963F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353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/>
              <a:t>Ini prioritas pemeriksaan OD, bukan bukti kemacetan fisik.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2BEE6-6588-458A-A953-5EBE6DFB963F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3871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/>
              <a:t>Rekomendasi ini hipotesis langkah kerja, bukan hasil uji dampak.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2BEE6-6588-458A-A953-5EBE6DFB963F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8914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/>
              <a:t>Jangan menyatakan persentase ini terukur otomatis atau bahwa seluruh teks bebas bantuan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2BEE6-6588-458A-A953-5EBE6DFB963F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42184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/>
              <a:t>Tutup dengan keterbatasan, rencana uji berikutnya, lalu buka tanya jawab.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2BEE6-6588-458A-A953-5EBE6DFB963F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2747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9B4D9-24F6-648A-AC93-AEAC0FBB8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68211-AAFE-E420-001C-3E178F066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37A98-065B-CBEF-A943-18033589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0498-E127-4891-8FDE-F104060F2355}" type="datetimeFigureOut">
              <a:rPr lang="en-ID" smtClean="0"/>
              <a:t>19/10/2026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5ABA8-20A6-F8DE-F3BA-94EC39CD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B44FC-CCF9-CB58-1953-3A6BC60F0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0F1D4-5D96-42C6-B1E1-EDCF7556F7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366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EE117-4EB9-65CE-C82C-0F25558EB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39DAC-A25B-91EF-D214-F6F6C3AD8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163B4-3228-8533-E7BC-B57D6CEA8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0498-E127-4891-8FDE-F104060F2355}" type="datetimeFigureOut">
              <a:rPr lang="en-ID" smtClean="0"/>
              <a:t>19/10/2026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0B5DB-128B-9CA5-3BA6-BFE986E9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7245C-2092-CAB5-9FDE-311F3A3D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0F1D4-5D96-42C6-B1E1-EDCF7556F7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224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8EFF-D01E-F309-61C2-A29587A6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0BF2D-D210-03CD-26C7-FF2DE8EDA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1DC31-329C-BDBB-07DF-5C587D18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0498-E127-4891-8FDE-F104060F2355}" type="datetimeFigureOut">
              <a:rPr lang="en-ID" smtClean="0"/>
              <a:t>19/10/2026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6A7DA-00F0-D93E-D187-A96F1AF1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03C00-57D9-E430-2288-E8F7A7EE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0F1D4-5D96-42C6-B1E1-EDCF7556F7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4216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FFE45-A18D-EB6C-F937-0A80C141E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4C140-E046-8B3D-6AEA-18E71CFCD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49438-7FFF-F85B-F864-BCDB59B47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75D5B-0C74-97F3-3C27-48B0D9583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0498-E127-4891-8FDE-F104060F2355}" type="datetimeFigureOut">
              <a:rPr lang="en-ID" smtClean="0"/>
              <a:t>19/10/2026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AEE76-06BE-9161-DB54-71EEC555F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65E2C-98CE-6729-430B-DF001FF00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0F1D4-5D96-42C6-B1E1-EDCF7556F7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2358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DC93D-131C-7986-5BB1-F8E6F06B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68FA6-D0AC-B973-2C0A-9FE4DC76A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9257A-F49D-A54C-EC46-A94BAD3CD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7FB41-8A6E-8731-7DB6-33EF75208C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1D4AD7-50EA-C4B8-E555-C5CBFE72A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F6765-3416-92A7-2715-2CF810680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0498-E127-4891-8FDE-F104060F2355}" type="datetimeFigureOut">
              <a:rPr lang="en-ID" smtClean="0"/>
              <a:t>19/10/2026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29422A-88AD-F3B0-7D4A-2137691EF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19C449-AB84-77C3-5FCC-1DE44424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0F1D4-5D96-42C6-B1E1-EDCF7556F7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45237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A824-1398-E6F4-B5CD-AB217FBA8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C429F9-1662-FC18-F6DA-C103EE14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0498-E127-4891-8FDE-F104060F2355}" type="datetimeFigureOut">
              <a:rPr lang="en-ID" smtClean="0"/>
              <a:t>19/10/2026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0F396-390F-2E2B-2AE7-8CEF607F4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93F05-01CE-ED26-1E5F-2E447ACED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0F1D4-5D96-42C6-B1E1-EDCF7556F7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639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2E390-BFCF-AB10-7416-98516FA03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0498-E127-4891-8FDE-F104060F2355}" type="datetimeFigureOut">
              <a:rPr lang="en-ID" smtClean="0"/>
              <a:t>19/10/2026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84A0C2-6189-96A1-4BBE-F9FDC0E1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D87AD-D328-803C-94C9-190AB722A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0F1D4-5D96-42C6-B1E1-EDCF7556F7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3913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9C41-90B7-B582-253B-97FFA52DF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182A4-0D26-CF3D-C4A5-63CB209EA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1D7D0-FC7C-4868-90FC-844EBBBD6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D2225-703C-953E-8330-1B5229F8B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0498-E127-4891-8FDE-F104060F2355}" type="datetimeFigureOut">
              <a:rPr lang="en-ID" smtClean="0"/>
              <a:t>19/10/2026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1C20A-C8D5-CAD8-4220-F2B9023E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F740A-31B6-536B-7116-527D5246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0F1D4-5D96-42C6-B1E1-EDCF7556F7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8773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5EBB-997C-CAF6-8235-7EC70F379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4BC4E8-4D14-98AC-8BF8-6EB2346D7A8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15FE0-8C51-7AE7-C61E-94DDEE223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9150C-876C-26B6-8A87-194DD09AD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0498-E127-4891-8FDE-F104060F2355}" type="datetimeFigureOut">
              <a:rPr lang="en-ID" smtClean="0"/>
              <a:t>19/10/2026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2FB30-33FA-498D-D620-D5DED248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CCDD6-D62E-7B8A-6101-E79E18F5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0F1D4-5D96-42C6-B1E1-EDCF7556F7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5757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194C7-A94D-77DE-85FA-518A4C6D2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68470-E259-1F36-531F-859455B0B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B6D79-C7AA-6752-E0A1-C1BD1F8E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0498-E127-4891-8FDE-F104060F2355}" type="datetimeFigureOut">
              <a:rPr lang="en-ID" smtClean="0"/>
              <a:t>19/10/2026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D5668-324B-1307-F4B0-FACCB5F4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96E91-5F73-3139-B5B6-4AEF621C8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0F1D4-5D96-42C6-B1E1-EDCF7556F7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6973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7F05DF-AED5-738D-2E92-74E2704AF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22D473-C353-EE06-729A-B8EE3BE4C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293D8-052D-035F-7F4B-E7E16E0A4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0498-E127-4891-8FDE-F104060F2355}" type="datetimeFigureOut">
              <a:rPr lang="en-ID" smtClean="0"/>
              <a:t>19/10/2026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8CDC3-2790-8488-A3E4-116A1EDF0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C1540-8732-09BE-2097-6AE3F8D0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0F1D4-5D96-42C6-B1E1-EDCF7556F7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782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10393D-853F-3227-5263-BB6B1752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25A39-6F45-CBF8-CFFF-C202F80B8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27CD5-29CD-96DD-2AC6-F5EC5B5BF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F0498-E127-4891-8FDE-F104060F2355}" type="datetimeFigureOut">
              <a:rPr lang="en-ID" smtClean="0"/>
              <a:t>19/10/2026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14660-739E-C9EB-2A25-BFD3C894B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5774F-3EEF-2EB2-CB6E-5A5FFDDD0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40F1D4-5D96-42C6-B1E1-EDCF7556F7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896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C31DD0-031F-DF76-481E-BFDA72E61A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B0EACF-8D0E-BC0F-4D1A-8ADA7286E8BC}"/>
              </a:ext>
            </a:extLst>
          </p:cNvPr>
          <p:cNvSpPr/>
          <p:nvPr/>
        </p:nvSpPr>
        <p:spPr>
          <a:xfrm>
            <a:off x="0" y="0"/>
            <a:ext cx="165100" cy="68580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9BB4E8-4D12-3353-B02C-DF36944E8D9D}"/>
              </a:ext>
            </a:extLst>
          </p:cNvPr>
          <p:cNvSpPr/>
          <p:nvPr/>
        </p:nvSpPr>
        <p:spPr>
          <a:xfrm>
            <a:off x="8699500" y="927100"/>
            <a:ext cx="2286000" cy="2286000"/>
          </a:xfrm>
          <a:prstGeom prst="round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F00923-FD0A-C273-0A77-4A8378DCF3A0}"/>
              </a:ext>
            </a:extLst>
          </p:cNvPr>
          <p:cNvSpPr txBox="1"/>
          <p:nvPr/>
        </p:nvSpPr>
        <p:spPr>
          <a:xfrm>
            <a:off x="736600" y="736600"/>
            <a:ext cx="584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 b="1">
                <a:solidFill>
                  <a:srgbClr val="CDEAE6"/>
                </a:solidFill>
                <a:latin typeface="Aptos" panose="020B0004020202020204" pitchFamily="34" charset="0"/>
              </a:rPr>
              <a:t>BDA / ASSIGNMENT II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EA78E-9F20-D928-35E9-91F2FC4B1409}"/>
              </a:ext>
            </a:extLst>
          </p:cNvPr>
          <p:cNvSpPr txBox="1"/>
          <p:nvPr/>
        </p:nvSpPr>
        <p:spPr>
          <a:xfrm>
            <a:off x="736600" y="1625600"/>
            <a:ext cx="7747000" cy="19389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i-FI" sz="4200" b="1">
                <a:solidFill>
                  <a:srgbClr val="FFFFFF"/>
                </a:solidFill>
                <a:latin typeface="Aptos" panose="020B0004020202020204" pitchFamily="34" charset="0"/>
              </a:rPr>
              <a:t>Membaca risiko
keterlambatan
pesanan Olist</a:t>
            </a:r>
            <a:endParaRPr lang="en-ID" sz="4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9B0FF-03A9-5B29-403A-86BE7C8328DF}"/>
              </a:ext>
            </a:extLst>
          </p:cNvPr>
          <p:cNvSpPr txBox="1"/>
          <p:nvPr/>
        </p:nvSpPr>
        <p:spPr>
          <a:xfrm>
            <a:off x="736600" y="4699000"/>
            <a:ext cx="825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>
                <a:solidFill>
                  <a:srgbClr val="CDEAE6"/>
                </a:solidFill>
                <a:latin typeface="Aptos" panose="020B0004020202020204" pitchFamily="34" charset="0"/>
              </a:rPr>
              <a:t>Machine learning dan graf asal–tujuan state</a:t>
            </a:r>
            <a:endParaRPr lang="en-ID" sz="2000">
              <a:solidFill>
                <a:srgbClr val="CDEAE6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1BF356-8FCF-BF71-E0C1-7E8D9AF91978}"/>
              </a:ext>
            </a:extLst>
          </p:cNvPr>
          <p:cNvSpPr txBox="1"/>
          <p:nvPr/>
        </p:nvSpPr>
        <p:spPr>
          <a:xfrm>
            <a:off x="736600" y="6032500"/>
            <a:ext cx="1016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FFFFFF"/>
                </a:solidFill>
                <a:latin typeface="Aptos" panose="020B0004020202020204" pitchFamily="34" charset="0"/>
              </a:rPr>
              <a:t>Yanlis Alim Sang Putra Lase  |  2702751284  |  M.TI BINUS</a:t>
            </a:r>
          </a:p>
        </p:txBody>
      </p:sp>
    </p:spTree>
    <p:extLst>
      <p:ext uri="{BB962C8B-B14F-4D97-AF65-F5344CB8AC3E}">
        <p14:creationId xmlns:p14="http://schemas.microsoft.com/office/powerpoint/2010/main" val="3652965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843567-3460-00B2-27B0-04861176B7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35B7A8-189D-486C-3368-6846E613492B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35B7C6-47C9-13F3-BF39-13F9EDFDB926}"/>
              </a:ext>
            </a:extLst>
          </p:cNvPr>
          <p:cNvSpPr txBox="1"/>
          <p:nvPr/>
        </p:nvSpPr>
        <p:spPr>
          <a:xfrm>
            <a:off x="533400" y="3556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100" b="1">
                <a:solidFill>
                  <a:srgbClr val="087E85"/>
                </a:solidFill>
                <a:latin typeface="Aptos" panose="020B0004020202020204" pitchFamily="34" charset="0"/>
              </a:rPr>
              <a:t>MASALAH BISNIS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628086-75F8-ABA6-ECBC-69361DDADC35}"/>
              </a:ext>
            </a:extLst>
          </p:cNvPr>
          <p:cNvSpPr txBox="1"/>
          <p:nvPr/>
        </p:nvSpPr>
        <p:spPr>
          <a:xfrm>
            <a:off x="533400" y="698500"/>
            <a:ext cx="10985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000" b="1">
                <a:solidFill>
                  <a:srgbClr val="10253D"/>
                </a:solidFill>
                <a:latin typeface="Aptos" panose="020B0004020202020204" pitchFamily="34" charset="0"/>
              </a:rPr>
              <a:t>Mengapa keterlambatan perlu dipantau?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AB5838-8478-3DE4-5945-E523F4C81A4E}"/>
              </a:ext>
            </a:extLst>
          </p:cNvPr>
          <p:cNvSpPr/>
          <p:nvPr/>
        </p:nvSpPr>
        <p:spPr>
          <a:xfrm>
            <a:off x="533400" y="6261100"/>
            <a:ext cx="11125200" cy="12700"/>
          </a:xfrm>
          <a:prstGeom prst="rect">
            <a:avLst/>
          </a:prstGeom>
          <a:solidFill>
            <a:srgbClr val="C7D3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91E10-1EB8-FFBA-4003-C28A54122D50}"/>
              </a:ext>
            </a:extLst>
          </p:cNvPr>
          <p:cNvSpPr txBox="1"/>
          <p:nvPr/>
        </p:nvSpPr>
        <p:spPr>
          <a:xfrm>
            <a:off x="533400" y="6388100"/>
            <a:ext cx="1022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Sumber: keluaran notebook 02 dan laporan Assignment 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89057-C6BA-D01E-90EC-171DECCE8CF9}"/>
              </a:ext>
            </a:extLst>
          </p:cNvPr>
          <p:cNvSpPr txBox="1"/>
          <p:nvPr/>
        </p:nvSpPr>
        <p:spPr>
          <a:xfrm>
            <a:off x="10756900" y="63881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02 / 12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3B40A0-2078-2D1C-6041-66BF40DAC1E0}"/>
              </a:ext>
            </a:extLst>
          </p:cNvPr>
          <p:cNvSpPr/>
          <p:nvPr/>
        </p:nvSpPr>
        <p:spPr>
          <a:xfrm>
            <a:off x="533400" y="1841500"/>
            <a:ext cx="3429000" cy="330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01B601-3164-CCAC-6F97-CE5F0280C76B}"/>
              </a:ext>
            </a:extLst>
          </p:cNvPr>
          <p:cNvSpPr/>
          <p:nvPr/>
        </p:nvSpPr>
        <p:spPr>
          <a:xfrm>
            <a:off x="533400" y="1841500"/>
            <a:ext cx="76200" cy="33020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19A12D-CECE-103B-84F9-75F0132D7F60}"/>
              </a:ext>
            </a:extLst>
          </p:cNvPr>
          <p:cNvSpPr txBox="1"/>
          <p:nvPr/>
        </p:nvSpPr>
        <p:spPr>
          <a:xfrm>
            <a:off x="774700" y="2070100"/>
            <a:ext cx="294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ORDER BERLABEL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481112-D619-61C0-9CA5-96CD809EA4D4}"/>
              </a:ext>
            </a:extLst>
          </p:cNvPr>
          <p:cNvSpPr txBox="1"/>
          <p:nvPr/>
        </p:nvSpPr>
        <p:spPr>
          <a:xfrm>
            <a:off x="774700" y="2451100"/>
            <a:ext cx="294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96.470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C6928C-0D98-2127-861D-4CDB531C430B}"/>
              </a:ext>
            </a:extLst>
          </p:cNvPr>
          <p:cNvSpPr txBox="1"/>
          <p:nvPr/>
        </p:nvSpPr>
        <p:spPr>
          <a:xfrm>
            <a:off x="774700" y="32131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300">
                <a:solidFill>
                  <a:srgbClr val="173049"/>
                </a:solidFill>
                <a:latin typeface="Aptos" panose="020B0004020202020204" pitchFamily="34" charset="0"/>
              </a:rPr>
              <a:t>Pesanan delivered dengan tanggal penerimaan dan estimasi yang valid.</a:t>
            </a:r>
            <a:endParaRPr lang="en-ID" sz="1300">
              <a:solidFill>
                <a:srgbClr val="173049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361635A-A179-753F-3C6E-A43E8A8550C8}"/>
              </a:ext>
            </a:extLst>
          </p:cNvPr>
          <p:cNvSpPr/>
          <p:nvPr/>
        </p:nvSpPr>
        <p:spPr>
          <a:xfrm>
            <a:off x="4152900" y="1841500"/>
            <a:ext cx="3429000" cy="330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05B038-87DB-3A27-AB8E-B092A14E1C32}"/>
              </a:ext>
            </a:extLst>
          </p:cNvPr>
          <p:cNvSpPr/>
          <p:nvPr/>
        </p:nvSpPr>
        <p:spPr>
          <a:xfrm>
            <a:off x="4152900" y="1841500"/>
            <a:ext cx="76200" cy="3302000"/>
          </a:xfrm>
          <a:prstGeom prst="rect">
            <a:avLst/>
          </a:prstGeom>
          <a:solidFill>
            <a:srgbClr val="D783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92CA93-95DD-9C2E-4747-13665F766395}"/>
              </a:ext>
            </a:extLst>
          </p:cNvPr>
          <p:cNvSpPr txBox="1"/>
          <p:nvPr/>
        </p:nvSpPr>
        <p:spPr>
          <a:xfrm>
            <a:off x="4394200" y="2070100"/>
            <a:ext cx="294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TERLAMBAT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117784-CE08-3042-1782-86C4779407D0}"/>
              </a:ext>
            </a:extLst>
          </p:cNvPr>
          <p:cNvSpPr txBox="1"/>
          <p:nvPr/>
        </p:nvSpPr>
        <p:spPr>
          <a:xfrm>
            <a:off x="4394200" y="2451100"/>
            <a:ext cx="294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8,11%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BD1B60-DEDA-113B-C347-3ED5DABA6C20}"/>
              </a:ext>
            </a:extLst>
          </p:cNvPr>
          <p:cNvSpPr txBox="1"/>
          <p:nvPr/>
        </p:nvSpPr>
        <p:spPr>
          <a:xfrm>
            <a:off x="4394200" y="32131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173049"/>
                </a:solidFill>
                <a:latin typeface="Aptos" panose="020B0004020202020204" pitchFamily="34" charset="0"/>
              </a:rPr>
              <a:t>7.826 order diterima setelah tanggal estimasi.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3B136B8-C44D-BFD2-95F7-CBF672602763}"/>
              </a:ext>
            </a:extLst>
          </p:cNvPr>
          <p:cNvSpPr/>
          <p:nvPr/>
        </p:nvSpPr>
        <p:spPr>
          <a:xfrm>
            <a:off x="7772400" y="1841500"/>
            <a:ext cx="3886200" cy="330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F47CA4-0A05-1CD1-FDED-88178B8500EC}"/>
              </a:ext>
            </a:extLst>
          </p:cNvPr>
          <p:cNvSpPr/>
          <p:nvPr/>
        </p:nvSpPr>
        <p:spPr>
          <a:xfrm>
            <a:off x="7772400" y="1841500"/>
            <a:ext cx="76200" cy="33020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AA2F14-F732-3820-DF84-6D12A9CE01BA}"/>
              </a:ext>
            </a:extLst>
          </p:cNvPr>
          <p:cNvSpPr txBox="1"/>
          <p:nvPr/>
        </p:nvSpPr>
        <p:spPr>
          <a:xfrm>
            <a:off x="8013700" y="2070100"/>
            <a:ext cx="340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SKOR ULASAN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1ECDB6-AE98-2E61-BB4E-AAFC948EF985}"/>
              </a:ext>
            </a:extLst>
          </p:cNvPr>
          <p:cNvSpPr txBox="1"/>
          <p:nvPr/>
        </p:nvSpPr>
        <p:spPr>
          <a:xfrm>
            <a:off x="8013700" y="2451100"/>
            <a:ext cx="34036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4,29 → 2,57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F44725-5091-5696-7C39-E94E08EB893A}"/>
              </a:ext>
            </a:extLst>
          </p:cNvPr>
          <p:cNvSpPr txBox="1"/>
          <p:nvPr/>
        </p:nvSpPr>
        <p:spPr>
          <a:xfrm>
            <a:off x="8013700" y="3213100"/>
            <a:ext cx="34036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173049"/>
                </a:solidFill>
                <a:latin typeface="Aptos" panose="020B0004020202020204" pitchFamily="34" charset="0"/>
              </a:rPr>
              <a:t>Rata-rata review order tepat waktu dibanding order terlambat; ini asosiasi, bukan bukti sebab-akibat.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83C320-7F36-BEEA-9B0B-8A4AB31FEF77}"/>
              </a:ext>
            </a:extLst>
          </p:cNvPr>
          <p:cNvSpPr txBox="1"/>
          <p:nvPr/>
        </p:nvSpPr>
        <p:spPr>
          <a:xfrm>
            <a:off x="571500" y="5473700"/>
            <a:ext cx="10985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900" b="1">
                <a:solidFill>
                  <a:srgbClr val="10253D"/>
                </a:solidFill>
                <a:latin typeface="Aptos" panose="020B0004020202020204" pitchFamily="34" charset="0"/>
              </a:rPr>
              <a:t>Pertanyaan: dapatkah risiko diperkirakan sebelum hasil pengiriman diketahui?</a:t>
            </a:r>
          </a:p>
        </p:txBody>
      </p:sp>
    </p:spTree>
    <p:extLst>
      <p:ext uri="{BB962C8B-B14F-4D97-AF65-F5344CB8AC3E}">
        <p14:creationId xmlns:p14="http://schemas.microsoft.com/office/powerpoint/2010/main" val="2096230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8F57D8-7D49-82EA-653A-2632EE04AA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D9F55F-ABCE-2E94-4AF2-3B5F0DDA1DDC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A448F-5E38-D922-4E8F-F7AFDF90530F}"/>
              </a:ext>
            </a:extLst>
          </p:cNvPr>
          <p:cNvSpPr txBox="1"/>
          <p:nvPr/>
        </p:nvSpPr>
        <p:spPr>
          <a:xfrm>
            <a:off x="533400" y="3556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100" b="1">
                <a:solidFill>
                  <a:srgbClr val="087E85"/>
                </a:solidFill>
                <a:latin typeface="Aptos" panose="020B0004020202020204" pitchFamily="34" charset="0"/>
              </a:rPr>
              <a:t>DATA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2E5FCA-F3E7-FF71-FF87-66974C793131}"/>
              </a:ext>
            </a:extLst>
          </p:cNvPr>
          <p:cNvSpPr txBox="1"/>
          <p:nvPr/>
        </p:nvSpPr>
        <p:spPr>
          <a:xfrm>
            <a:off x="533400" y="698500"/>
            <a:ext cx="10985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3000" b="1">
                <a:solidFill>
                  <a:srgbClr val="10253D"/>
                </a:solidFill>
                <a:latin typeface="Aptos" panose="020B0004020202020204" pitchFamily="34" charset="0"/>
              </a:rPr>
              <a:t>Dari pesanan terkirim ke data model</a:t>
            </a:r>
            <a:endParaRPr lang="en-ID" sz="3000" b="1">
              <a:solidFill>
                <a:srgbClr val="10253D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815-7F90-72AE-B28B-4BCEF7B8823D}"/>
              </a:ext>
            </a:extLst>
          </p:cNvPr>
          <p:cNvSpPr/>
          <p:nvPr/>
        </p:nvSpPr>
        <p:spPr>
          <a:xfrm>
            <a:off x="533400" y="6261100"/>
            <a:ext cx="11125200" cy="12700"/>
          </a:xfrm>
          <a:prstGeom prst="rect">
            <a:avLst/>
          </a:prstGeom>
          <a:solidFill>
            <a:srgbClr val="C7D3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56CF84-74FF-3BEE-EE84-42BD4FA5067E}"/>
              </a:ext>
            </a:extLst>
          </p:cNvPr>
          <p:cNvSpPr txBox="1"/>
          <p:nvPr/>
        </p:nvSpPr>
        <p:spPr>
          <a:xfrm>
            <a:off x="533400" y="6388100"/>
            <a:ext cx="1022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4707D"/>
                </a:solidFill>
                <a:latin typeface="Aptos" panose="020B0004020202020204" pitchFamily="34" charset="0"/>
              </a:rPr>
              <a:t>Sumber: audit data notebook 01–02 dan output Assignment II</a:t>
            </a:r>
            <a:endParaRPr lang="en-ID" sz="900">
              <a:solidFill>
                <a:srgbClr val="54707D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78B626-36E7-1198-EFCB-7245B239DA4F}"/>
              </a:ext>
            </a:extLst>
          </p:cNvPr>
          <p:cNvSpPr txBox="1"/>
          <p:nvPr/>
        </p:nvSpPr>
        <p:spPr>
          <a:xfrm>
            <a:off x="10756900" y="63881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03 / 12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931D98-30F8-95F2-0C86-7EA7B54520E9}"/>
              </a:ext>
            </a:extLst>
          </p:cNvPr>
          <p:cNvSpPr/>
          <p:nvPr/>
        </p:nvSpPr>
        <p:spPr>
          <a:xfrm>
            <a:off x="533400" y="1854200"/>
            <a:ext cx="3416300" cy="3124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9A2916-A83D-A90A-55A1-9341A9FCE02A}"/>
              </a:ext>
            </a:extLst>
          </p:cNvPr>
          <p:cNvSpPr/>
          <p:nvPr/>
        </p:nvSpPr>
        <p:spPr>
          <a:xfrm>
            <a:off x="533400" y="1854200"/>
            <a:ext cx="76200" cy="31242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652AAD-18C8-B1D0-404E-8D0ADCA9C5D0}"/>
              </a:ext>
            </a:extLst>
          </p:cNvPr>
          <p:cNvSpPr txBox="1"/>
          <p:nvPr/>
        </p:nvSpPr>
        <p:spPr>
          <a:xfrm>
            <a:off x="774700" y="2082800"/>
            <a:ext cx="293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DELIVERED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8CA7E-E51F-0AFC-210C-9052789CD8AE}"/>
              </a:ext>
            </a:extLst>
          </p:cNvPr>
          <p:cNvSpPr txBox="1"/>
          <p:nvPr/>
        </p:nvSpPr>
        <p:spPr>
          <a:xfrm>
            <a:off x="774700" y="2463800"/>
            <a:ext cx="29337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96.478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38F36C-0D98-B108-20B4-47FA9B54A466}"/>
              </a:ext>
            </a:extLst>
          </p:cNvPr>
          <p:cNvSpPr txBox="1"/>
          <p:nvPr/>
        </p:nvSpPr>
        <p:spPr>
          <a:xfrm>
            <a:off x="774700" y="3225800"/>
            <a:ext cx="29337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173049"/>
                </a:solidFill>
                <a:latin typeface="Aptos" panose="020B0004020202020204" pitchFamily="34" charset="0"/>
              </a:rPr>
              <a:t>Seluruh order dengan status delivered.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01FA40-53C9-D5B1-CD67-38802A6500F8}"/>
              </a:ext>
            </a:extLst>
          </p:cNvPr>
          <p:cNvSpPr/>
          <p:nvPr/>
        </p:nvSpPr>
        <p:spPr>
          <a:xfrm>
            <a:off x="4216400" y="1854200"/>
            <a:ext cx="3416300" cy="3124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AC3844-9A0C-4C28-FC3D-74E3F490FBBD}"/>
              </a:ext>
            </a:extLst>
          </p:cNvPr>
          <p:cNvSpPr/>
          <p:nvPr/>
        </p:nvSpPr>
        <p:spPr>
          <a:xfrm>
            <a:off x="4216400" y="1854200"/>
            <a:ext cx="76200" cy="31242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343CD7-5829-BF85-1118-1C0AACA74296}"/>
              </a:ext>
            </a:extLst>
          </p:cNvPr>
          <p:cNvSpPr txBox="1"/>
          <p:nvPr/>
        </p:nvSpPr>
        <p:spPr>
          <a:xfrm>
            <a:off x="4457700" y="2082800"/>
            <a:ext cx="293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LABEL VALID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189C66-E98C-29EA-3559-9B14CEB7242E}"/>
              </a:ext>
            </a:extLst>
          </p:cNvPr>
          <p:cNvSpPr txBox="1"/>
          <p:nvPr/>
        </p:nvSpPr>
        <p:spPr>
          <a:xfrm>
            <a:off x="4457700" y="2463800"/>
            <a:ext cx="29337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96.470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ABC50-4A1B-9C72-C848-38378C83517F}"/>
              </a:ext>
            </a:extLst>
          </p:cNvPr>
          <p:cNvSpPr txBox="1"/>
          <p:nvPr/>
        </p:nvSpPr>
        <p:spPr>
          <a:xfrm>
            <a:off x="4457700" y="3225800"/>
            <a:ext cx="29337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173049"/>
                </a:solidFill>
                <a:latin typeface="Aptos" panose="020B0004020202020204" pitchFamily="34" charset="0"/>
              </a:rPr>
              <a:t>Delapan order tanpa tanggal yang diperlukan untuk label dikeluarkan.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5357801-DE60-22B1-CBFD-DC45911A6D84}"/>
              </a:ext>
            </a:extLst>
          </p:cNvPr>
          <p:cNvSpPr/>
          <p:nvPr/>
        </p:nvSpPr>
        <p:spPr>
          <a:xfrm>
            <a:off x="7899400" y="1854200"/>
            <a:ext cx="3759200" cy="3124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E9E09F-DFE4-1F90-09C8-BB2050E5CA4D}"/>
              </a:ext>
            </a:extLst>
          </p:cNvPr>
          <p:cNvSpPr/>
          <p:nvPr/>
        </p:nvSpPr>
        <p:spPr>
          <a:xfrm>
            <a:off x="7899400" y="1854200"/>
            <a:ext cx="76200" cy="31242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EF3A5D-8D3E-98E2-D220-3863024E965E}"/>
              </a:ext>
            </a:extLst>
          </p:cNvPr>
          <p:cNvSpPr txBox="1"/>
          <p:nvPr/>
        </p:nvSpPr>
        <p:spPr>
          <a:xfrm>
            <a:off x="8140700" y="2082800"/>
            <a:ext cx="3276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MODEL VALID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C5400F-459E-623D-A592-685B9AD9BD9D}"/>
              </a:ext>
            </a:extLst>
          </p:cNvPr>
          <p:cNvSpPr txBox="1"/>
          <p:nvPr/>
        </p:nvSpPr>
        <p:spPr>
          <a:xfrm>
            <a:off x="8140700" y="2463800"/>
            <a:ext cx="32766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96.455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90D75A-3AB9-F4D4-A034-2E6F4F2EDA9A}"/>
              </a:ext>
            </a:extLst>
          </p:cNvPr>
          <p:cNvSpPr txBox="1"/>
          <p:nvPr/>
        </p:nvSpPr>
        <p:spPr>
          <a:xfrm>
            <a:off x="8140700" y="3225800"/>
            <a:ext cx="32766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173049"/>
                </a:solidFill>
                <a:latin typeface="Aptos" panose="020B0004020202020204" pitchFamily="34" charset="0"/>
              </a:rPr>
              <a:t>Lima belas order dengan prediktor kosong atau tidak finite dikeluarkan.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DBA420-C8C3-777F-BDD0-65CE329A9FAD}"/>
              </a:ext>
            </a:extLst>
          </p:cNvPr>
          <p:cNvSpPr txBox="1"/>
          <p:nvPr/>
        </p:nvSpPr>
        <p:spPr>
          <a:xfrm>
            <a:off x="673100" y="5435600"/>
            <a:ext cx="10795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900" b="1">
                <a:solidFill>
                  <a:srgbClr val="10253D"/>
                </a:solidFill>
                <a:latin typeface="Aptos" panose="020B0004020202020204" pitchFamily="34" charset="0"/>
              </a:rPr>
              <a:t>CSV asli → Parquet Snappy → fitur tingkat order → train / validation / test</a:t>
            </a:r>
          </a:p>
        </p:txBody>
      </p:sp>
    </p:spTree>
    <p:extLst>
      <p:ext uri="{BB962C8B-B14F-4D97-AF65-F5344CB8AC3E}">
        <p14:creationId xmlns:p14="http://schemas.microsoft.com/office/powerpoint/2010/main" val="3981338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AA15CA-C2D0-6F19-642A-299BC65C48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F08BA3-9456-6A5D-7714-6616869EEACF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BAF2B-E665-E485-40F2-1A836CC96CE7}"/>
              </a:ext>
            </a:extLst>
          </p:cNvPr>
          <p:cNvSpPr txBox="1"/>
          <p:nvPr/>
        </p:nvSpPr>
        <p:spPr>
          <a:xfrm>
            <a:off x="533400" y="3556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100" b="1">
                <a:solidFill>
                  <a:srgbClr val="087E85"/>
                </a:solidFill>
                <a:latin typeface="Aptos" panose="020B0004020202020204" pitchFamily="34" charset="0"/>
              </a:rPr>
              <a:t>FEATURE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59447-73AF-D3D8-11CF-99268751E2B1}"/>
              </a:ext>
            </a:extLst>
          </p:cNvPr>
          <p:cNvSpPr txBox="1"/>
          <p:nvPr/>
        </p:nvSpPr>
        <p:spPr>
          <a:xfrm>
            <a:off x="533400" y="698500"/>
            <a:ext cx="10985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000" b="1">
                <a:solidFill>
                  <a:srgbClr val="10253D"/>
                </a:solidFill>
                <a:latin typeface="Aptos" panose="020B0004020202020204" pitchFamily="34" charset="0"/>
              </a:rPr>
              <a:t>Sepuluh fitur yang dipertahankan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FC2DB7-92C3-1808-3FD8-5D44954A14C1}"/>
              </a:ext>
            </a:extLst>
          </p:cNvPr>
          <p:cNvSpPr/>
          <p:nvPr/>
        </p:nvSpPr>
        <p:spPr>
          <a:xfrm>
            <a:off x="533400" y="6261100"/>
            <a:ext cx="11125200" cy="12700"/>
          </a:xfrm>
          <a:prstGeom prst="rect">
            <a:avLst/>
          </a:prstGeom>
          <a:solidFill>
            <a:srgbClr val="C7D3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472BD5-3234-9C35-C41B-67B9C232B39C}"/>
              </a:ext>
            </a:extLst>
          </p:cNvPr>
          <p:cNvSpPr txBox="1"/>
          <p:nvPr/>
        </p:nvSpPr>
        <p:spPr>
          <a:xfrm>
            <a:off x="533400" y="6388100"/>
            <a:ext cx="1022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4707D"/>
                </a:solidFill>
                <a:latin typeface="Aptos" panose="020B0004020202020204" pitchFamily="34" charset="0"/>
              </a:rPr>
              <a:t>Sumber: assignment2_experiments.py; outputs_ml_graph/model_evaluation_report.json</a:t>
            </a:r>
            <a:endParaRPr lang="en-ID" sz="900">
              <a:solidFill>
                <a:srgbClr val="54707D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882D82-BFAC-F66D-D5F4-1F3F815F3C44}"/>
              </a:ext>
            </a:extLst>
          </p:cNvPr>
          <p:cNvSpPr txBox="1"/>
          <p:nvPr/>
        </p:nvSpPr>
        <p:spPr>
          <a:xfrm>
            <a:off x="10756900" y="63881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04 / 12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BAA951-6F4B-800A-7476-8002CFED8686}"/>
              </a:ext>
            </a:extLst>
          </p:cNvPr>
          <p:cNvSpPr/>
          <p:nvPr/>
        </p:nvSpPr>
        <p:spPr>
          <a:xfrm>
            <a:off x="533400" y="1752600"/>
            <a:ext cx="5397500" cy="4000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C0759A-D9B1-60EB-5F90-6CB2B5EAE5B8}"/>
              </a:ext>
            </a:extLst>
          </p:cNvPr>
          <p:cNvSpPr/>
          <p:nvPr/>
        </p:nvSpPr>
        <p:spPr>
          <a:xfrm>
            <a:off x="6159500" y="1752600"/>
            <a:ext cx="5499100" cy="4000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1CF245-EF1F-C06A-810D-05F69E89EA01}"/>
              </a:ext>
            </a:extLst>
          </p:cNvPr>
          <p:cNvSpPr txBox="1"/>
          <p:nvPr/>
        </p:nvSpPr>
        <p:spPr>
          <a:xfrm>
            <a:off x="774700" y="20066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b="1">
                <a:solidFill>
                  <a:srgbClr val="087E85"/>
                </a:solidFill>
                <a:latin typeface="Aptos" panose="020B0004020202020204" pitchFamily="34" charset="0"/>
              </a:rPr>
              <a:t>Nilai dan pengiriman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13008-D661-4603-A8E4-63813D36DDF3}"/>
              </a:ext>
            </a:extLst>
          </p:cNvPr>
          <p:cNvSpPr txBox="1"/>
          <p:nvPr/>
        </p:nvSpPr>
        <p:spPr>
          <a:xfrm>
            <a:off x="774700" y="2628900"/>
            <a:ext cx="4762500" cy="14619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173049"/>
                </a:solidFill>
                <a:latin typeface="Aptos" panose="020B0004020202020204" pitchFamily="34" charset="0"/>
              </a:rPr>
              <a:t>total_items
total_price
total_freight
freight_ratio
max_installments</a:t>
            </a:r>
            <a:endParaRPr lang="en-ID" sz="1900">
              <a:solidFill>
                <a:srgbClr val="173049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9F264A-38C7-95A7-8BDD-2CB1D58F516F}"/>
              </a:ext>
            </a:extLst>
          </p:cNvPr>
          <p:cNvSpPr txBox="1"/>
          <p:nvPr/>
        </p:nvSpPr>
        <p:spPr>
          <a:xfrm>
            <a:off x="6400800" y="2006600"/>
            <a:ext cx="4864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b="1">
                <a:solidFill>
                  <a:srgbClr val="087E85"/>
                </a:solidFill>
                <a:latin typeface="Aptos" panose="020B0004020202020204" pitchFamily="34" charset="0"/>
              </a:rPr>
              <a:t>Estimasi dan konteks order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D31188-384B-4DA7-C026-39B66DABFB1D}"/>
              </a:ext>
            </a:extLst>
          </p:cNvPr>
          <p:cNvSpPr txBox="1"/>
          <p:nvPr/>
        </p:nvSpPr>
        <p:spPr>
          <a:xfrm>
            <a:off x="6400800" y="2628900"/>
            <a:ext cx="4699000" cy="14619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173049"/>
                </a:solidFill>
                <a:latin typeface="Aptos" panose="020B0004020202020204" pitchFamily="34" charset="0"/>
              </a:rPr>
              <a:t>estimated_delivery_days
is_same_state
purchase_dayofweek
purchase_hour
product_weight_g</a:t>
            </a:r>
            <a:endParaRPr lang="en-ID" sz="1900">
              <a:solidFill>
                <a:srgbClr val="17304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490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4C22E7-215D-D685-222E-9D37A4E038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E1E04D-48B7-3C1B-B7B4-C60D87A39FA1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1E21F2-9DE3-6829-6A5D-C90074D73912}"/>
              </a:ext>
            </a:extLst>
          </p:cNvPr>
          <p:cNvSpPr txBox="1"/>
          <p:nvPr/>
        </p:nvSpPr>
        <p:spPr>
          <a:xfrm>
            <a:off x="533400" y="3556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100" b="1">
                <a:solidFill>
                  <a:srgbClr val="087E85"/>
                </a:solidFill>
                <a:latin typeface="Aptos" panose="020B0004020202020204" pitchFamily="34" charset="0"/>
              </a:rPr>
              <a:t>MODEL &amp; EVALUASI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C557B-20BD-1240-AB2B-AA53A516ECFB}"/>
              </a:ext>
            </a:extLst>
          </p:cNvPr>
          <p:cNvSpPr txBox="1"/>
          <p:nvPr/>
        </p:nvSpPr>
        <p:spPr>
          <a:xfrm>
            <a:off x="533400" y="698500"/>
            <a:ext cx="10985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000" b="1">
                <a:solidFill>
                  <a:srgbClr val="10253D"/>
                </a:solidFill>
                <a:latin typeface="Aptos" panose="020B0004020202020204" pitchFamily="34" charset="0"/>
              </a:rPr>
              <a:t>Tiga model, dua cara memisahkan waktu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29BC8B-5CB6-2D44-B889-4432E745BC79}"/>
              </a:ext>
            </a:extLst>
          </p:cNvPr>
          <p:cNvSpPr/>
          <p:nvPr/>
        </p:nvSpPr>
        <p:spPr>
          <a:xfrm>
            <a:off x="533400" y="6261100"/>
            <a:ext cx="11125200" cy="12700"/>
          </a:xfrm>
          <a:prstGeom prst="rect">
            <a:avLst/>
          </a:prstGeom>
          <a:solidFill>
            <a:srgbClr val="C7D3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6795E5-6A94-F2AB-B374-76AEE925139D}"/>
              </a:ext>
            </a:extLst>
          </p:cNvPr>
          <p:cNvSpPr txBox="1"/>
          <p:nvPr/>
        </p:nvSpPr>
        <p:spPr>
          <a:xfrm>
            <a:off x="533400" y="6388100"/>
            <a:ext cx="1022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4707D"/>
                </a:solidFill>
                <a:latin typeface="Aptos" panose="020B0004020202020204" pitchFamily="34" charset="0"/>
              </a:rPr>
              <a:t>Sumber: assignment2_experiments.py dan outputs_assignment2/split_profile.csv</a:t>
            </a:r>
            <a:endParaRPr lang="en-ID" sz="900">
              <a:solidFill>
                <a:srgbClr val="54707D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5E4B7-8DAD-1B5F-7BDB-F340E4D74C3B}"/>
              </a:ext>
            </a:extLst>
          </p:cNvPr>
          <p:cNvSpPr txBox="1"/>
          <p:nvPr/>
        </p:nvSpPr>
        <p:spPr>
          <a:xfrm>
            <a:off x="10756900" y="63881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05 / 12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F750F4-C553-EF26-7924-4A31FEB7ECAE}"/>
              </a:ext>
            </a:extLst>
          </p:cNvPr>
          <p:cNvSpPr/>
          <p:nvPr/>
        </p:nvSpPr>
        <p:spPr>
          <a:xfrm>
            <a:off x="533400" y="1803400"/>
            <a:ext cx="3429000" cy="30607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713069-1D55-5C29-1791-F3279C1C1F7C}"/>
              </a:ext>
            </a:extLst>
          </p:cNvPr>
          <p:cNvSpPr/>
          <p:nvPr/>
        </p:nvSpPr>
        <p:spPr>
          <a:xfrm>
            <a:off x="533400" y="1803400"/>
            <a:ext cx="76200" cy="30607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6A58CA-C6BB-5435-BBD6-A4D2348E7D0F}"/>
              </a:ext>
            </a:extLst>
          </p:cNvPr>
          <p:cNvSpPr txBox="1"/>
          <p:nvPr/>
        </p:nvSpPr>
        <p:spPr>
          <a:xfrm>
            <a:off x="774700" y="2032000"/>
            <a:ext cx="294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DENGAN SPARK MLLIB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0DAE5-71E7-5176-4F5D-8A01ADEE09B5}"/>
              </a:ext>
            </a:extLst>
          </p:cNvPr>
          <p:cNvSpPr txBox="1"/>
          <p:nvPr/>
        </p:nvSpPr>
        <p:spPr>
          <a:xfrm>
            <a:off x="774700" y="2413000"/>
            <a:ext cx="294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RF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9CB8B7-9F20-2A64-0DA0-192020EF70E9}"/>
              </a:ext>
            </a:extLst>
          </p:cNvPr>
          <p:cNvSpPr txBox="1"/>
          <p:nvPr/>
        </p:nvSpPr>
        <p:spPr>
          <a:xfrm>
            <a:off x="774700" y="31750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173049"/>
                </a:solidFill>
                <a:latin typeface="Aptos" panose="020B0004020202020204" pitchFamily="34" charset="0"/>
              </a:rPr>
              <a:t>Random Forest pada PySpark, berjalan di local[4].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C646D6-3B9C-1A11-4DC5-EEDCBA225159}"/>
              </a:ext>
            </a:extLst>
          </p:cNvPr>
          <p:cNvSpPr/>
          <p:nvPr/>
        </p:nvSpPr>
        <p:spPr>
          <a:xfrm>
            <a:off x="4152900" y="1803400"/>
            <a:ext cx="3429000" cy="30607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E1A39C-2C9B-2BA0-7273-BBFD7DB643A7}"/>
              </a:ext>
            </a:extLst>
          </p:cNvPr>
          <p:cNvSpPr/>
          <p:nvPr/>
        </p:nvSpPr>
        <p:spPr>
          <a:xfrm>
            <a:off x="4152900" y="1803400"/>
            <a:ext cx="76200" cy="30607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F4532A-3958-631F-8A9D-E610528E9EBC}"/>
              </a:ext>
            </a:extLst>
          </p:cNvPr>
          <p:cNvSpPr txBox="1"/>
          <p:nvPr/>
        </p:nvSpPr>
        <p:spPr>
          <a:xfrm>
            <a:off x="4394200" y="2032000"/>
            <a:ext cx="294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TANPA SPARK MLLIB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D59C5A-727C-B3AA-E75B-18B884765538}"/>
              </a:ext>
            </a:extLst>
          </p:cNvPr>
          <p:cNvSpPr txBox="1"/>
          <p:nvPr/>
        </p:nvSpPr>
        <p:spPr>
          <a:xfrm>
            <a:off x="4394200" y="2413000"/>
            <a:ext cx="294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RF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B7C971-33E6-A032-AC9E-B5189193B692}"/>
              </a:ext>
            </a:extLst>
          </p:cNvPr>
          <p:cNvSpPr txBox="1"/>
          <p:nvPr/>
        </p:nvSpPr>
        <p:spPr>
          <a:xfrm>
            <a:off x="4394200" y="31750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173049"/>
                </a:solidFill>
                <a:latin typeface="Aptos" panose="020B0004020202020204" pitchFamily="34" charset="0"/>
              </a:rPr>
              <a:t>Random Forest scikit-learn pada data/split yang sepadan.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B104094-AA54-C5D3-34AA-81DDC3419EF0}"/>
              </a:ext>
            </a:extLst>
          </p:cNvPr>
          <p:cNvSpPr/>
          <p:nvPr/>
        </p:nvSpPr>
        <p:spPr>
          <a:xfrm>
            <a:off x="7772400" y="1803400"/>
            <a:ext cx="3886200" cy="30607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C5502D-C791-D5B1-6611-851C4186156F}"/>
              </a:ext>
            </a:extLst>
          </p:cNvPr>
          <p:cNvSpPr/>
          <p:nvPr/>
        </p:nvSpPr>
        <p:spPr>
          <a:xfrm>
            <a:off x="7772400" y="1803400"/>
            <a:ext cx="76200" cy="30607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A09857-AB62-ACED-E690-81F8A555E141}"/>
              </a:ext>
            </a:extLst>
          </p:cNvPr>
          <p:cNvSpPr txBox="1"/>
          <p:nvPr/>
        </p:nvSpPr>
        <p:spPr>
          <a:xfrm>
            <a:off x="8013700" y="2032000"/>
            <a:ext cx="340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PEMBANDING SEDERHANA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AAB03A-4904-92B7-3282-42D1177129A7}"/>
              </a:ext>
            </a:extLst>
          </p:cNvPr>
          <p:cNvSpPr txBox="1"/>
          <p:nvPr/>
        </p:nvSpPr>
        <p:spPr>
          <a:xfrm>
            <a:off x="8013700" y="2413000"/>
            <a:ext cx="34036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LR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72250C-040E-DFEC-55E3-F9BC666B247A}"/>
              </a:ext>
            </a:extLst>
          </p:cNvPr>
          <p:cNvSpPr txBox="1"/>
          <p:nvPr/>
        </p:nvSpPr>
        <p:spPr>
          <a:xfrm>
            <a:off x="8013700" y="3175000"/>
            <a:ext cx="34036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173049"/>
                </a:solidFill>
                <a:latin typeface="Aptos" panose="020B0004020202020204" pitchFamily="34" charset="0"/>
              </a:rPr>
              <a:t>Logistic Regression dengan StandardScaler yang fit hanya pada train.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0E4F0B-3493-BCE4-F4FC-ECC50407E8DE}"/>
              </a:ext>
            </a:extLst>
          </p:cNvPr>
          <p:cNvSpPr txBox="1"/>
          <p:nvPr/>
        </p:nvSpPr>
        <p:spPr>
          <a:xfrm>
            <a:off x="584200" y="5207000"/>
            <a:ext cx="1111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0253D"/>
                </a:solidFill>
                <a:latin typeface="Aptos" panose="020B0004020202020204" pitchFamily="34" charset="0"/>
              </a:rPr>
              <a:t>Hash: membership Assignment I   •   Kronologis: 64% train / 16% validation / 20% test</a:t>
            </a:r>
            <a:endParaRPr lang="en-ID" sz="1600" b="1">
              <a:solidFill>
                <a:srgbClr val="10253D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8074B3-6611-C0DD-A4F7-90AB3434AB41}"/>
              </a:ext>
            </a:extLst>
          </p:cNvPr>
          <p:cNvSpPr txBox="1"/>
          <p:nvPr/>
        </p:nvSpPr>
        <p:spPr>
          <a:xfrm>
            <a:off x="584200" y="5676900"/>
            <a:ext cx="11112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400">
                <a:solidFill>
                  <a:srgbClr val="54707D"/>
                </a:solidFill>
                <a:latin typeface="Aptos" panose="020B0004020202020204" pitchFamily="34" charset="0"/>
              </a:rPr>
              <a:t>Ambang dipilih dari validation; test hanya dipakai untuk evaluasi akhir.</a:t>
            </a:r>
          </a:p>
        </p:txBody>
      </p:sp>
    </p:spTree>
    <p:extLst>
      <p:ext uri="{BB962C8B-B14F-4D97-AF65-F5344CB8AC3E}">
        <p14:creationId xmlns:p14="http://schemas.microsoft.com/office/powerpoint/2010/main" val="370312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2D3343-DAC1-A799-EA58-E55BA82EFA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6F689F-3F27-4DB6-4B39-9137B3277BD4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0283D-DA69-A069-F42B-3DCAC3698958}"/>
              </a:ext>
            </a:extLst>
          </p:cNvPr>
          <p:cNvSpPr txBox="1"/>
          <p:nvPr/>
        </p:nvSpPr>
        <p:spPr>
          <a:xfrm>
            <a:off x="533400" y="3556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100" b="1">
                <a:solidFill>
                  <a:srgbClr val="087E85"/>
                </a:solidFill>
                <a:latin typeface="Aptos" panose="020B0004020202020204" pitchFamily="34" charset="0"/>
              </a:rPr>
              <a:t>EVALUASI 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D17FA-79D0-274E-EC70-53A4B4BF3212}"/>
              </a:ext>
            </a:extLst>
          </p:cNvPr>
          <p:cNvSpPr txBox="1"/>
          <p:nvPr/>
        </p:nvSpPr>
        <p:spPr>
          <a:xfrm>
            <a:off x="533400" y="698500"/>
            <a:ext cx="10985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000" b="1">
                <a:solidFill>
                  <a:srgbClr val="10253D"/>
                </a:solidFill>
                <a:latin typeface="Aptos" panose="020B0004020202020204" pitchFamily="34" charset="0"/>
              </a:rPr>
              <a:t>Hasil test berubah pada split kronologis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A193B2-193D-9F40-6AFA-CA005CE5092F}"/>
              </a:ext>
            </a:extLst>
          </p:cNvPr>
          <p:cNvSpPr/>
          <p:nvPr/>
        </p:nvSpPr>
        <p:spPr>
          <a:xfrm>
            <a:off x="533400" y="6261100"/>
            <a:ext cx="11125200" cy="12700"/>
          </a:xfrm>
          <a:prstGeom prst="rect">
            <a:avLst/>
          </a:prstGeom>
          <a:solidFill>
            <a:srgbClr val="C7D3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E3786B-EE13-3E5E-88AE-DAF31C660593}"/>
              </a:ext>
            </a:extLst>
          </p:cNvPr>
          <p:cNvSpPr txBox="1"/>
          <p:nvPr/>
        </p:nvSpPr>
        <p:spPr>
          <a:xfrm>
            <a:off x="533400" y="6388100"/>
            <a:ext cx="1022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Sumber: outputs_assignment2/model_comparison.csv; ambang dipilih pada validation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429D4-2C09-5EC9-DD77-C2EA46316C53}"/>
              </a:ext>
            </a:extLst>
          </p:cNvPr>
          <p:cNvSpPr txBox="1"/>
          <p:nvPr/>
        </p:nvSpPr>
        <p:spPr>
          <a:xfrm>
            <a:off x="10756900" y="63881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06 / 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E4EC-49DD-F222-25FC-BC3CF2FF11B7}"/>
              </a:ext>
            </a:extLst>
          </p:cNvPr>
          <p:cNvSpPr txBox="1"/>
          <p:nvPr/>
        </p:nvSpPr>
        <p:spPr>
          <a:xfrm>
            <a:off x="558800" y="17653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087E85"/>
                </a:solidFill>
                <a:latin typeface="Aptos" panose="020B0004020202020204" pitchFamily="34" charset="0"/>
              </a:rPr>
              <a:t>Split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F9D77F-0823-F3DA-E674-72E5A0B98147}"/>
              </a:ext>
            </a:extLst>
          </p:cNvPr>
          <p:cNvSpPr txBox="1"/>
          <p:nvPr/>
        </p:nvSpPr>
        <p:spPr>
          <a:xfrm>
            <a:off x="2628900" y="17653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087E85"/>
                </a:solidFill>
                <a:latin typeface="Aptos" panose="020B0004020202020204" pitchFamily="34" charset="0"/>
              </a:rPr>
              <a:t>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0C9452-8756-C19C-445D-B94AC6EBDB54}"/>
              </a:ext>
            </a:extLst>
          </p:cNvPr>
          <p:cNvSpPr txBox="1"/>
          <p:nvPr/>
        </p:nvSpPr>
        <p:spPr>
          <a:xfrm>
            <a:off x="6540500" y="17653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087E85"/>
                </a:solidFill>
                <a:latin typeface="Aptos" panose="020B0004020202020204" pitchFamily="34" charset="0"/>
              </a:rPr>
              <a:t>Precision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A398F4-D126-0DD1-1602-FD11A225EE76}"/>
              </a:ext>
            </a:extLst>
          </p:cNvPr>
          <p:cNvSpPr txBox="1"/>
          <p:nvPr/>
        </p:nvSpPr>
        <p:spPr>
          <a:xfrm>
            <a:off x="7950200" y="17653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087E85"/>
                </a:solidFill>
                <a:latin typeface="Aptos" panose="020B0004020202020204" pitchFamily="34" charset="0"/>
              </a:rPr>
              <a:t>Recall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CF51E2-13A0-85A0-6AE2-36DD9417C52A}"/>
              </a:ext>
            </a:extLst>
          </p:cNvPr>
          <p:cNvSpPr txBox="1"/>
          <p:nvPr/>
        </p:nvSpPr>
        <p:spPr>
          <a:xfrm>
            <a:off x="9423400" y="17653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087E85"/>
                </a:solidFill>
                <a:latin typeface="Aptos" panose="020B0004020202020204" pitchFamily="34" charset="0"/>
              </a:rPr>
              <a:t>F1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29760AD-94F9-7434-58CC-5197EF6BA799}"/>
              </a:ext>
            </a:extLst>
          </p:cNvPr>
          <p:cNvSpPr/>
          <p:nvPr/>
        </p:nvSpPr>
        <p:spPr>
          <a:xfrm>
            <a:off x="533400" y="2159000"/>
            <a:ext cx="11125200" cy="508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DFDDB1-FFD6-02E1-A31D-9690FED21201}"/>
              </a:ext>
            </a:extLst>
          </p:cNvPr>
          <p:cNvSpPr txBox="1"/>
          <p:nvPr/>
        </p:nvSpPr>
        <p:spPr>
          <a:xfrm>
            <a:off x="558800" y="22479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Hash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B87FE0-2F59-2F0D-718C-A7697882C4C8}"/>
              </a:ext>
            </a:extLst>
          </p:cNvPr>
          <p:cNvSpPr txBox="1"/>
          <p:nvPr/>
        </p:nvSpPr>
        <p:spPr>
          <a:xfrm>
            <a:off x="2628900" y="22479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sklearn LR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C418FD-90E4-E6F6-7AE2-3402FFCC145D}"/>
              </a:ext>
            </a:extLst>
          </p:cNvPr>
          <p:cNvSpPr txBox="1"/>
          <p:nvPr/>
        </p:nvSpPr>
        <p:spPr>
          <a:xfrm>
            <a:off x="6540500" y="22479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14,90%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C96A71-2E22-2206-6B0D-7076B79A08F0}"/>
              </a:ext>
            </a:extLst>
          </p:cNvPr>
          <p:cNvSpPr txBox="1"/>
          <p:nvPr/>
        </p:nvSpPr>
        <p:spPr>
          <a:xfrm>
            <a:off x="7950200" y="22479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42,21%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E6F077-4DA8-EBA9-A38E-054A1A44110C}"/>
              </a:ext>
            </a:extLst>
          </p:cNvPr>
          <p:cNvSpPr txBox="1"/>
          <p:nvPr/>
        </p:nvSpPr>
        <p:spPr>
          <a:xfrm>
            <a:off x="9423400" y="22479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0,2202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006713B-87F2-7CC5-8F9B-9F576799E1D2}"/>
              </a:ext>
            </a:extLst>
          </p:cNvPr>
          <p:cNvSpPr/>
          <p:nvPr/>
        </p:nvSpPr>
        <p:spPr>
          <a:xfrm>
            <a:off x="533400" y="2717800"/>
            <a:ext cx="11125200" cy="508000"/>
          </a:xfrm>
          <a:prstGeom prst="roundRect">
            <a:avLst/>
          </a:prstGeom>
          <a:solidFill>
            <a:srgbClr val="EAF0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125BB5-0F03-EBCA-9ABE-A11995C3C4EB}"/>
              </a:ext>
            </a:extLst>
          </p:cNvPr>
          <p:cNvSpPr txBox="1"/>
          <p:nvPr/>
        </p:nvSpPr>
        <p:spPr>
          <a:xfrm>
            <a:off x="558800" y="28067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Hash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B3CF40-AEAC-C349-F683-90A87F63ECA6}"/>
              </a:ext>
            </a:extLst>
          </p:cNvPr>
          <p:cNvSpPr txBox="1"/>
          <p:nvPr/>
        </p:nvSpPr>
        <p:spPr>
          <a:xfrm>
            <a:off x="2628900" y="28067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sklearn RF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CECFD8-4B72-B0D6-2EA4-B08C998D3101}"/>
              </a:ext>
            </a:extLst>
          </p:cNvPr>
          <p:cNvSpPr txBox="1"/>
          <p:nvPr/>
        </p:nvSpPr>
        <p:spPr>
          <a:xfrm>
            <a:off x="6540500" y="28067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15,32%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8AB635-865E-FA21-B379-270CEC78BBEB}"/>
              </a:ext>
            </a:extLst>
          </p:cNvPr>
          <p:cNvSpPr txBox="1"/>
          <p:nvPr/>
        </p:nvSpPr>
        <p:spPr>
          <a:xfrm>
            <a:off x="7950200" y="28067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39,06%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2C9112-3A78-6E8C-7589-BCC0B8D5039B}"/>
              </a:ext>
            </a:extLst>
          </p:cNvPr>
          <p:cNvSpPr txBox="1"/>
          <p:nvPr/>
        </p:nvSpPr>
        <p:spPr>
          <a:xfrm>
            <a:off x="9423400" y="28067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0,2201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E5743F9-88F6-A695-2368-372BB58D7F62}"/>
              </a:ext>
            </a:extLst>
          </p:cNvPr>
          <p:cNvSpPr/>
          <p:nvPr/>
        </p:nvSpPr>
        <p:spPr>
          <a:xfrm>
            <a:off x="533400" y="3276600"/>
            <a:ext cx="11125200" cy="508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529108-3499-72D5-4BFD-A625239433B0}"/>
              </a:ext>
            </a:extLst>
          </p:cNvPr>
          <p:cNvSpPr txBox="1"/>
          <p:nvPr/>
        </p:nvSpPr>
        <p:spPr>
          <a:xfrm>
            <a:off x="558800" y="33655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Hash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2F2538-F08A-34E4-BE6B-B49FFB1C95B1}"/>
              </a:ext>
            </a:extLst>
          </p:cNvPr>
          <p:cNvSpPr txBox="1"/>
          <p:nvPr/>
        </p:nvSpPr>
        <p:spPr>
          <a:xfrm>
            <a:off x="2628900" y="33655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Spark RF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EABCA7-4E97-9267-3238-E45F2CC9AF73}"/>
              </a:ext>
            </a:extLst>
          </p:cNvPr>
          <p:cNvSpPr txBox="1"/>
          <p:nvPr/>
        </p:nvSpPr>
        <p:spPr>
          <a:xfrm>
            <a:off x="6540500" y="33655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14,77%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4798A9-59E2-9761-55C0-AA8A0630F27E}"/>
              </a:ext>
            </a:extLst>
          </p:cNvPr>
          <p:cNvSpPr txBox="1"/>
          <p:nvPr/>
        </p:nvSpPr>
        <p:spPr>
          <a:xfrm>
            <a:off x="7950200" y="33655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45,03%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6DE064-7BE7-0B24-C5E6-3962F659CFCF}"/>
              </a:ext>
            </a:extLst>
          </p:cNvPr>
          <p:cNvSpPr txBox="1"/>
          <p:nvPr/>
        </p:nvSpPr>
        <p:spPr>
          <a:xfrm>
            <a:off x="9423400" y="33655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0,2224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6CA8BAA-C3AA-D571-BF85-6F5CF1F1ACFD}"/>
              </a:ext>
            </a:extLst>
          </p:cNvPr>
          <p:cNvSpPr/>
          <p:nvPr/>
        </p:nvSpPr>
        <p:spPr>
          <a:xfrm>
            <a:off x="533400" y="3835400"/>
            <a:ext cx="11125200" cy="508000"/>
          </a:xfrm>
          <a:prstGeom prst="roundRect">
            <a:avLst/>
          </a:prstGeom>
          <a:solidFill>
            <a:srgbClr val="EAF0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19F7EF-BEF4-39A0-143E-67C489FE9C30}"/>
              </a:ext>
            </a:extLst>
          </p:cNvPr>
          <p:cNvSpPr txBox="1"/>
          <p:nvPr/>
        </p:nvSpPr>
        <p:spPr>
          <a:xfrm>
            <a:off x="558800" y="39243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Waktu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F2BACE-A8F2-A6E2-173F-5EAD207D8999}"/>
              </a:ext>
            </a:extLst>
          </p:cNvPr>
          <p:cNvSpPr txBox="1"/>
          <p:nvPr/>
        </p:nvSpPr>
        <p:spPr>
          <a:xfrm>
            <a:off x="2628900" y="39243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sklearn LR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EB5DE5-D167-16B1-3640-9FB6EA9F7ED7}"/>
              </a:ext>
            </a:extLst>
          </p:cNvPr>
          <p:cNvSpPr txBox="1"/>
          <p:nvPr/>
        </p:nvSpPr>
        <p:spPr>
          <a:xfrm>
            <a:off x="6540500" y="39243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6,82%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58DFC3-983D-5FA6-B363-29DD235B4F1B}"/>
              </a:ext>
            </a:extLst>
          </p:cNvPr>
          <p:cNvSpPr txBox="1"/>
          <p:nvPr/>
        </p:nvSpPr>
        <p:spPr>
          <a:xfrm>
            <a:off x="7950200" y="39243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34,57%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7E7718-B270-35D5-1507-751C0525C549}"/>
              </a:ext>
            </a:extLst>
          </p:cNvPr>
          <p:cNvSpPr txBox="1"/>
          <p:nvPr/>
        </p:nvSpPr>
        <p:spPr>
          <a:xfrm>
            <a:off x="9423400" y="39243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0,1139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87567DF-5873-6413-B558-68C0F60E13AB}"/>
              </a:ext>
            </a:extLst>
          </p:cNvPr>
          <p:cNvSpPr/>
          <p:nvPr/>
        </p:nvSpPr>
        <p:spPr>
          <a:xfrm>
            <a:off x="533400" y="4394200"/>
            <a:ext cx="11125200" cy="508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D47DDD-F601-244A-55B4-86AC642737E1}"/>
              </a:ext>
            </a:extLst>
          </p:cNvPr>
          <p:cNvSpPr txBox="1"/>
          <p:nvPr/>
        </p:nvSpPr>
        <p:spPr>
          <a:xfrm>
            <a:off x="558800" y="44831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 b="1">
                <a:solidFill>
                  <a:srgbClr val="087E85"/>
                </a:solidFill>
                <a:latin typeface="Aptos" panose="020B0004020202020204" pitchFamily="34" charset="0"/>
              </a:rPr>
              <a:t>Waktu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D99BF3-A53D-34BD-0515-E2F6A4FE1277}"/>
              </a:ext>
            </a:extLst>
          </p:cNvPr>
          <p:cNvSpPr txBox="1"/>
          <p:nvPr/>
        </p:nvSpPr>
        <p:spPr>
          <a:xfrm>
            <a:off x="2628900" y="44831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 b="1">
                <a:solidFill>
                  <a:srgbClr val="087E85"/>
                </a:solidFill>
                <a:latin typeface="Aptos" panose="020B0004020202020204" pitchFamily="34" charset="0"/>
              </a:rPr>
              <a:t>sklearn RF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2BBF3B-071D-D963-409F-2029325F8E0E}"/>
              </a:ext>
            </a:extLst>
          </p:cNvPr>
          <p:cNvSpPr txBox="1"/>
          <p:nvPr/>
        </p:nvSpPr>
        <p:spPr>
          <a:xfrm>
            <a:off x="6540500" y="44831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 b="1">
                <a:solidFill>
                  <a:srgbClr val="087E85"/>
                </a:solidFill>
                <a:latin typeface="Aptos" panose="020B0004020202020204" pitchFamily="34" charset="0"/>
              </a:rPr>
              <a:t>10,35%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3B11B9-8FAF-6562-CB03-E21F97E92FA2}"/>
              </a:ext>
            </a:extLst>
          </p:cNvPr>
          <p:cNvSpPr txBox="1"/>
          <p:nvPr/>
        </p:nvSpPr>
        <p:spPr>
          <a:xfrm>
            <a:off x="7950200" y="44831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 b="1">
                <a:solidFill>
                  <a:srgbClr val="087E85"/>
                </a:solidFill>
                <a:latin typeface="Aptos" panose="020B0004020202020204" pitchFamily="34" charset="0"/>
              </a:rPr>
              <a:t>64,64%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BEE7C5-DB6F-9609-102B-124C1862B014}"/>
              </a:ext>
            </a:extLst>
          </p:cNvPr>
          <p:cNvSpPr txBox="1"/>
          <p:nvPr/>
        </p:nvSpPr>
        <p:spPr>
          <a:xfrm>
            <a:off x="9423400" y="44831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 b="1">
                <a:solidFill>
                  <a:srgbClr val="087E85"/>
                </a:solidFill>
                <a:latin typeface="Aptos" panose="020B0004020202020204" pitchFamily="34" charset="0"/>
              </a:rPr>
              <a:t>0,1785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7987526-2718-0EF4-85C0-6D8E46706BE6}"/>
              </a:ext>
            </a:extLst>
          </p:cNvPr>
          <p:cNvSpPr/>
          <p:nvPr/>
        </p:nvSpPr>
        <p:spPr>
          <a:xfrm>
            <a:off x="533400" y="4953000"/>
            <a:ext cx="11125200" cy="508000"/>
          </a:xfrm>
          <a:prstGeom prst="roundRect">
            <a:avLst/>
          </a:prstGeom>
          <a:solidFill>
            <a:srgbClr val="EAF0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D1AA69-3B7F-CEA3-3B70-670FFF2C7347}"/>
              </a:ext>
            </a:extLst>
          </p:cNvPr>
          <p:cNvSpPr txBox="1"/>
          <p:nvPr/>
        </p:nvSpPr>
        <p:spPr>
          <a:xfrm>
            <a:off x="558800" y="50419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Waktu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D18B1D-B905-3554-1C19-E6B7FE27C21C}"/>
              </a:ext>
            </a:extLst>
          </p:cNvPr>
          <p:cNvSpPr txBox="1"/>
          <p:nvPr/>
        </p:nvSpPr>
        <p:spPr>
          <a:xfrm>
            <a:off x="2628900" y="50419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Spark RF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7D40B8-021E-AC8B-59F7-89DA2C8AFD88}"/>
              </a:ext>
            </a:extLst>
          </p:cNvPr>
          <p:cNvSpPr txBox="1"/>
          <p:nvPr/>
        </p:nvSpPr>
        <p:spPr>
          <a:xfrm>
            <a:off x="6540500" y="50419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5,17%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456B46-90E5-5F74-0D93-72AEAF83C4F6}"/>
              </a:ext>
            </a:extLst>
          </p:cNvPr>
          <p:cNvSpPr txBox="1"/>
          <p:nvPr/>
        </p:nvSpPr>
        <p:spPr>
          <a:xfrm>
            <a:off x="7950200" y="50419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26,93%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DE5215-B4CC-4779-D368-D3D6115512D5}"/>
              </a:ext>
            </a:extLst>
          </p:cNvPr>
          <p:cNvSpPr txBox="1"/>
          <p:nvPr/>
        </p:nvSpPr>
        <p:spPr>
          <a:xfrm>
            <a:off x="9423400" y="5041900"/>
            <a:ext cx="234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173049"/>
                </a:solidFill>
                <a:latin typeface="Aptos" panose="020B0004020202020204" pitchFamily="34" charset="0"/>
              </a:rPr>
              <a:t>0,0867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143168-E566-8294-6E7F-B7B4283DAA1A}"/>
              </a:ext>
            </a:extLst>
          </p:cNvPr>
          <p:cNvSpPr txBox="1"/>
          <p:nvPr/>
        </p:nvSpPr>
        <p:spPr>
          <a:xfrm>
            <a:off x="584200" y="5702300"/>
            <a:ext cx="11010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54707D"/>
                </a:solidFill>
                <a:latin typeface="Aptos" panose="020B0004020202020204" pitchFamily="34" charset="0"/>
              </a:rPr>
              <a:t>Prevalensi test: hash 8,16%; waktu 5,29%. Perbedaan ini memengaruhi pembacaan precision.</a:t>
            </a:r>
          </a:p>
        </p:txBody>
      </p:sp>
    </p:spTree>
    <p:extLst>
      <p:ext uri="{BB962C8B-B14F-4D97-AF65-F5344CB8AC3E}">
        <p14:creationId xmlns:p14="http://schemas.microsoft.com/office/powerpoint/2010/main" val="2630043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11FE03-343C-BDCE-7E23-23A9B1A9C8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160D93-16F0-D6C0-A728-894C4CC7B66A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DF4C8F-6D0F-135F-C077-59C462770997}"/>
              </a:ext>
            </a:extLst>
          </p:cNvPr>
          <p:cNvSpPr txBox="1"/>
          <p:nvPr/>
        </p:nvSpPr>
        <p:spPr>
          <a:xfrm>
            <a:off x="533400" y="3556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100" b="1">
                <a:solidFill>
                  <a:srgbClr val="087E85"/>
                </a:solidFill>
                <a:latin typeface="Aptos" panose="020B0004020202020204" pitchFamily="34" charset="0"/>
              </a:rPr>
              <a:t>AMBANG PREDIKSI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94D5C-BE55-EFB8-30F7-6203FC5CACC6}"/>
              </a:ext>
            </a:extLst>
          </p:cNvPr>
          <p:cNvSpPr txBox="1"/>
          <p:nvPr/>
        </p:nvSpPr>
        <p:spPr>
          <a:xfrm>
            <a:off x="533400" y="698500"/>
            <a:ext cx="10985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000" b="1">
                <a:solidFill>
                  <a:srgbClr val="10253D"/>
                </a:solidFill>
                <a:latin typeface="Aptos" panose="020B0004020202020204" pitchFamily="34" charset="0"/>
              </a:rPr>
              <a:t>Berapa banyak order yang perlu ditinjau?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3B60A8-4B63-BF29-0AE2-0E26298CFFD7}"/>
              </a:ext>
            </a:extLst>
          </p:cNvPr>
          <p:cNvSpPr/>
          <p:nvPr/>
        </p:nvSpPr>
        <p:spPr>
          <a:xfrm>
            <a:off x="533400" y="6261100"/>
            <a:ext cx="11125200" cy="12700"/>
          </a:xfrm>
          <a:prstGeom prst="rect">
            <a:avLst/>
          </a:prstGeom>
          <a:solidFill>
            <a:srgbClr val="C7D3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5CA112-DC77-8DC9-E7E7-D4E9BCA827D1}"/>
              </a:ext>
            </a:extLst>
          </p:cNvPr>
          <p:cNvSpPr txBox="1"/>
          <p:nvPr/>
        </p:nvSpPr>
        <p:spPr>
          <a:xfrm>
            <a:off x="533400" y="6388100"/>
            <a:ext cx="1022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Sumber: outputs_assignment2/alert_budget_scenarios.csv; temporal sklearn RF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E4B0CC-3B7D-6064-356A-1C9A16A29711}"/>
              </a:ext>
            </a:extLst>
          </p:cNvPr>
          <p:cNvSpPr txBox="1"/>
          <p:nvPr/>
        </p:nvSpPr>
        <p:spPr>
          <a:xfrm>
            <a:off x="10756900" y="63881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07 / 12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BCC1AA8-BC1D-5957-B670-80E8DCC40AA8}"/>
              </a:ext>
            </a:extLst>
          </p:cNvPr>
          <p:cNvSpPr/>
          <p:nvPr/>
        </p:nvSpPr>
        <p:spPr>
          <a:xfrm>
            <a:off x="533400" y="1816100"/>
            <a:ext cx="3429000" cy="33401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117F8B-136A-5705-6709-9D8CC43CF7BA}"/>
              </a:ext>
            </a:extLst>
          </p:cNvPr>
          <p:cNvSpPr/>
          <p:nvPr/>
        </p:nvSpPr>
        <p:spPr>
          <a:xfrm>
            <a:off x="533400" y="1816100"/>
            <a:ext cx="76200" cy="33401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06E9C7-5453-AAD5-F9C0-904BA2FECE70}"/>
              </a:ext>
            </a:extLst>
          </p:cNvPr>
          <p:cNvSpPr txBox="1"/>
          <p:nvPr/>
        </p:nvSpPr>
        <p:spPr>
          <a:xfrm>
            <a:off x="774700" y="2044700"/>
            <a:ext cx="294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BUDGET VALIDATION 1%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AFDBED-DAC4-81B1-B2D1-746514F85875}"/>
              </a:ext>
            </a:extLst>
          </p:cNvPr>
          <p:cNvSpPr txBox="1"/>
          <p:nvPr/>
        </p:nvSpPr>
        <p:spPr>
          <a:xfrm>
            <a:off x="774700" y="2425700"/>
            <a:ext cx="294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487 alert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AF4E74-C9F5-E28B-0CEF-FEBC0CDA8191}"/>
              </a:ext>
            </a:extLst>
          </p:cNvPr>
          <p:cNvSpPr txBox="1"/>
          <p:nvPr/>
        </p:nvSpPr>
        <p:spPr>
          <a:xfrm>
            <a:off x="774700" y="31877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173049"/>
                </a:solidFill>
                <a:latin typeface="Aptos" panose="020B0004020202020204" pitchFamily="34" charset="0"/>
              </a:rPr>
              <a:t>Test: 88 benar terlambat, 399 false positive; precision 18,07%, recall 8,62%.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E9B917D-65A2-BC0A-2C92-C6428D6F33DE}"/>
              </a:ext>
            </a:extLst>
          </p:cNvPr>
          <p:cNvSpPr/>
          <p:nvPr/>
        </p:nvSpPr>
        <p:spPr>
          <a:xfrm>
            <a:off x="4152900" y="1816100"/>
            <a:ext cx="3429000" cy="33401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E627BD-A0A1-4CEF-47D2-E8A0F0017B69}"/>
              </a:ext>
            </a:extLst>
          </p:cNvPr>
          <p:cNvSpPr/>
          <p:nvPr/>
        </p:nvSpPr>
        <p:spPr>
          <a:xfrm>
            <a:off x="4152900" y="1816100"/>
            <a:ext cx="76200" cy="3340100"/>
          </a:xfrm>
          <a:prstGeom prst="rect">
            <a:avLst/>
          </a:prstGeom>
          <a:solidFill>
            <a:srgbClr val="D783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1D71B6-B690-8BCB-1F33-9AE71C723A88}"/>
              </a:ext>
            </a:extLst>
          </p:cNvPr>
          <p:cNvSpPr txBox="1"/>
          <p:nvPr/>
        </p:nvSpPr>
        <p:spPr>
          <a:xfrm>
            <a:off x="4394200" y="2044700"/>
            <a:ext cx="294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BUDGET VALIDATION 5%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7E07DA-B7FE-5D49-DB49-019A52D641DB}"/>
              </a:ext>
            </a:extLst>
          </p:cNvPr>
          <p:cNvSpPr txBox="1"/>
          <p:nvPr/>
        </p:nvSpPr>
        <p:spPr>
          <a:xfrm>
            <a:off x="4394200" y="2425700"/>
            <a:ext cx="294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2.539 alert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A7EA18-9671-5793-5CB2-9510840BE43A}"/>
              </a:ext>
            </a:extLst>
          </p:cNvPr>
          <p:cNvSpPr txBox="1"/>
          <p:nvPr/>
        </p:nvSpPr>
        <p:spPr>
          <a:xfrm>
            <a:off x="4394200" y="3187700"/>
            <a:ext cx="2946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173049"/>
                </a:solidFill>
                <a:latin typeface="Aptos" panose="020B0004020202020204" pitchFamily="34" charset="0"/>
              </a:rPr>
              <a:t>Test: precision 12,68%, recall 31,54%.</a:t>
            </a:r>
            <a:endParaRPr lang="en-ID" sz="1300">
              <a:solidFill>
                <a:srgbClr val="173049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FE282C9-F4BD-231C-D072-220F5E6D368F}"/>
              </a:ext>
            </a:extLst>
          </p:cNvPr>
          <p:cNvSpPr/>
          <p:nvPr/>
        </p:nvSpPr>
        <p:spPr>
          <a:xfrm>
            <a:off x="7772400" y="1816100"/>
            <a:ext cx="3886200" cy="33401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C835FE-F2A3-8523-9C21-AF113CAC1B47}"/>
              </a:ext>
            </a:extLst>
          </p:cNvPr>
          <p:cNvSpPr/>
          <p:nvPr/>
        </p:nvSpPr>
        <p:spPr>
          <a:xfrm>
            <a:off x="7772400" y="1816100"/>
            <a:ext cx="76200" cy="33401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1F5953-96E3-580C-AE70-C345B7F53002}"/>
              </a:ext>
            </a:extLst>
          </p:cNvPr>
          <p:cNvSpPr txBox="1"/>
          <p:nvPr/>
        </p:nvSpPr>
        <p:spPr>
          <a:xfrm>
            <a:off x="8013700" y="2044700"/>
            <a:ext cx="340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BUDGET VALIDATION 10%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C4843F-2B00-629D-A030-D98CA0138B01}"/>
              </a:ext>
            </a:extLst>
          </p:cNvPr>
          <p:cNvSpPr txBox="1"/>
          <p:nvPr/>
        </p:nvSpPr>
        <p:spPr>
          <a:xfrm>
            <a:off x="8013700" y="2425700"/>
            <a:ext cx="34036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4.208 alert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415EBD-2131-A4FF-07CC-E6F81CBC4E9D}"/>
              </a:ext>
            </a:extLst>
          </p:cNvPr>
          <p:cNvSpPr txBox="1"/>
          <p:nvPr/>
        </p:nvSpPr>
        <p:spPr>
          <a:xfrm>
            <a:off x="8013700" y="3187700"/>
            <a:ext cx="3403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173049"/>
                </a:solidFill>
                <a:latin typeface="Aptos" panose="020B0004020202020204" pitchFamily="34" charset="0"/>
              </a:rPr>
              <a:t>Test: precision 11,50%, recall 47,40%.</a:t>
            </a:r>
            <a:endParaRPr lang="en-ID" sz="1300">
              <a:solidFill>
                <a:srgbClr val="173049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CDD62A-4E20-FE4B-52C8-96D82D50F3FD}"/>
              </a:ext>
            </a:extLst>
          </p:cNvPr>
          <p:cNvSpPr txBox="1"/>
          <p:nvPr/>
        </p:nvSpPr>
        <p:spPr>
          <a:xfrm>
            <a:off x="571500" y="5486400"/>
            <a:ext cx="1104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600" b="1">
                <a:solidFill>
                  <a:srgbClr val="10253D"/>
                </a:solidFill>
                <a:latin typeface="Aptos" panose="020B0004020202020204" pitchFamily="34" charset="0"/>
              </a:rPr>
              <a:t>Anggaran pada validation tidak menjamin jumlah alert test. Belum ada ambang operasional final.</a:t>
            </a:r>
          </a:p>
        </p:txBody>
      </p:sp>
    </p:spTree>
    <p:extLst>
      <p:ext uri="{BB962C8B-B14F-4D97-AF65-F5344CB8AC3E}">
        <p14:creationId xmlns:p14="http://schemas.microsoft.com/office/powerpoint/2010/main" val="4056161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5974E0-3416-A096-7F75-EDA79DC94A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EDAF64-143D-1EB1-DF37-231156E20ED8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958AB-F61B-47E9-71AF-C0D7D4200AB6}"/>
              </a:ext>
            </a:extLst>
          </p:cNvPr>
          <p:cNvSpPr txBox="1"/>
          <p:nvPr/>
        </p:nvSpPr>
        <p:spPr>
          <a:xfrm>
            <a:off x="533400" y="3556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100" b="1">
                <a:solidFill>
                  <a:srgbClr val="087E85"/>
                </a:solidFill>
                <a:latin typeface="Aptos" panose="020B0004020202020204" pitchFamily="34" charset="0"/>
              </a:rPr>
              <a:t>GRAPH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CB4C9C-3E6E-1A8B-8236-0FE4C9991DA4}"/>
              </a:ext>
            </a:extLst>
          </p:cNvPr>
          <p:cNvSpPr txBox="1"/>
          <p:nvPr/>
        </p:nvSpPr>
        <p:spPr>
          <a:xfrm>
            <a:off x="533400" y="698500"/>
            <a:ext cx="10985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000" b="1">
                <a:solidFill>
                  <a:srgbClr val="10253D"/>
                </a:solidFill>
                <a:latin typeface="Aptos" panose="020B0004020202020204" pitchFamily="34" charset="0"/>
              </a:rPr>
              <a:t>Graf asal–tujuan antar-state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B7A120-112A-F79D-5CFC-FE79AA4EB59B}"/>
              </a:ext>
            </a:extLst>
          </p:cNvPr>
          <p:cNvSpPr/>
          <p:nvPr/>
        </p:nvSpPr>
        <p:spPr>
          <a:xfrm>
            <a:off x="533400" y="6261100"/>
            <a:ext cx="11125200" cy="12700"/>
          </a:xfrm>
          <a:prstGeom prst="rect">
            <a:avLst/>
          </a:prstGeom>
          <a:solidFill>
            <a:srgbClr val="C7D3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C16985-CC98-081D-F2A9-CD6A322D1C64}"/>
              </a:ext>
            </a:extLst>
          </p:cNvPr>
          <p:cNvSpPr txBox="1"/>
          <p:nvPr/>
        </p:nvSpPr>
        <p:spPr>
          <a:xfrm>
            <a:off x="533400" y="6388100"/>
            <a:ext cx="1022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54707D"/>
                </a:solidFill>
                <a:latin typeface="Aptos" panose="020B0004020202020204" pitchFamily="34" charset="0"/>
              </a:rPr>
              <a:t>Sumber: notebook 03 dan figures/fig8_graph_network_topology.png</a:t>
            </a:r>
            <a:endParaRPr lang="en-ID" sz="900">
              <a:solidFill>
                <a:srgbClr val="54707D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6822A8-B652-BB1D-97F6-48C5CF093511}"/>
              </a:ext>
            </a:extLst>
          </p:cNvPr>
          <p:cNvSpPr txBox="1"/>
          <p:nvPr/>
        </p:nvSpPr>
        <p:spPr>
          <a:xfrm>
            <a:off x="10756900" y="63881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08 / 12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3B26A5-30A8-DE71-B6FC-2C67D04429EE}"/>
              </a:ext>
            </a:extLst>
          </p:cNvPr>
          <p:cNvSpPr/>
          <p:nvPr/>
        </p:nvSpPr>
        <p:spPr>
          <a:xfrm>
            <a:off x="533400" y="1676400"/>
            <a:ext cx="5969000" cy="425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5DEFEB-799C-59B3-7A8D-10756F2A434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15" y="1828800"/>
            <a:ext cx="3730770" cy="39370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46989E-FA58-FD49-EE74-79A902925F78}"/>
              </a:ext>
            </a:extLst>
          </p:cNvPr>
          <p:cNvSpPr/>
          <p:nvPr/>
        </p:nvSpPr>
        <p:spPr>
          <a:xfrm>
            <a:off x="6769100" y="1816100"/>
            <a:ext cx="4889500" cy="18161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7ABCC5-5DF8-B4B2-AC63-DDD86AC91A38}"/>
              </a:ext>
            </a:extLst>
          </p:cNvPr>
          <p:cNvSpPr/>
          <p:nvPr/>
        </p:nvSpPr>
        <p:spPr>
          <a:xfrm>
            <a:off x="6769100" y="1816100"/>
            <a:ext cx="76200" cy="18161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5B8174-261E-5296-3A6A-9FBA558470E0}"/>
              </a:ext>
            </a:extLst>
          </p:cNvPr>
          <p:cNvSpPr txBox="1"/>
          <p:nvPr/>
        </p:nvSpPr>
        <p:spPr>
          <a:xfrm>
            <a:off x="7010400" y="2044700"/>
            <a:ext cx="4406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GRAF BERARAH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CA945A-4604-03F7-AF2B-F39BCF366BA4}"/>
              </a:ext>
            </a:extLst>
          </p:cNvPr>
          <p:cNvSpPr txBox="1"/>
          <p:nvPr/>
        </p:nvSpPr>
        <p:spPr>
          <a:xfrm>
            <a:off x="7010400" y="2425700"/>
            <a:ext cx="44069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27 state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882744-BBC2-CDE4-B56B-9FE711E4678C}"/>
              </a:ext>
            </a:extLst>
          </p:cNvPr>
          <p:cNvSpPr txBox="1"/>
          <p:nvPr/>
        </p:nvSpPr>
        <p:spPr>
          <a:xfrm>
            <a:off x="7010400" y="3187700"/>
            <a:ext cx="4406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173049"/>
                </a:solidFill>
                <a:latin typeface="Aptos" panose="020B0004020202020204" pitchFamily="34" charset="0"/>
              </a:rPr>
              <a:t>409 edge seller-state → customer-state.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036CE66-1DC2-70BA-B7E0-BCC4E1669A6E}"/>
              </a:ext>
            </a:extLst>
          </p:cNvPr>
          <p:cNvSpPr/>
          <p:nvPr/>
        </p:nvSpPr>
        <p:spPr>
          <a:xfrm>
            <a:off x="6769100" y="3835400"/>
            <a:ext cx="4889500" cy="1955800"/>
          </a:xfrm>
          <a:prstGeom prst="roundRect">
            <a:avLst/>
          </a:prstGeom>
          <a:solidFill>
            <a:srgbClr val="E4EF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5F7607-4576-8F70-1320-66D5A4B81AC8}"/>
              </a:ext>
            </a:extLst>
          </p:cNvPr>
          <p:cNvSpPr txBox="1"/>
          <p:nvPr/>
        </p:nvSpPr>
        <p:spPr>
          <a:xfrm>
            <a:off x="7023100" y="4025900"/>
            <a:ext cx="4191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900" b="1">
                <a:solidFill>
                  <a:srgbClr val="087E85"/>
                </a:solidFill>
                <a:latin typeface="Aptos" panose="020B0004020202020204" pitchFamily="34" charset="0"/>
              </a:rPr>
              <a:t>Cara membaca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E0360E-3AE1-94F9-5C79-F28FD00E935E}"/>
              </a:ext>
            </a:extLst>
          </p:cNvPr>
          <p:cNvSpPr txBox="1"/>
          <p:nvPr/>
        </p:nvSpPr>
        <p:spPr>
          <a:xfrm>
            <a:off x="7023100" y="4495800"/>
            <a:ext cx="4191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600">
                <a:solidFill>
                  <a:srgbClr val="173049"/>
                </a:solidFill>
                <a:latin typeface="Aptos" panose="020B0004020202020204" pitchFamily="34" charset="0"/>
              </a:rPr>
              <a:t>Node = state. Edge = pasangan asal–tujuan order. Posisi gambar skematis; hanya 35 edge dengan volume tertinggi ditampilkan.</a:t>
            </a:r>
          </a:p>
        </p:txBody>
      </p:sp>
    </p:spTree>
    <p:extLst>
      <p:ext uri="{BB962C8B-B14F-4D97-AF65-F5344CB8AC3E}">
        <p14:creationId xmlns:p14="http://schemas.microsoft.com/office/powerpoint/2010/main" val="2752061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F0120E-16FB-3D5A-CB66-21170C7760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D0C120-4AF2-98CB-F3F3-B686EB829597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127820-FDC1-BD82-EA33-1CCCE53CBD26}"/>
              </a:ext>
            </a:extLst>
          </p:cNvPr>
          <p:cNvSpPr txBox="1"/>
          <p:nvPr/>
        </p:nvSpPr>
        <p:spPr>
          <a:xfrm>
            <a:off x="533400" y="3556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100" b="1">
                <a:solidFill>
                  <a:srgbClr val="087E85"/>
                </a:solidFill>
                <a:latin typeface="Aptos" panose="020B0004020202020204" pitchFamily="34" charset="0"/>
              </a:rPr>
              <a:t>TEMUAN GRAF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8F6577-AE09-562B-83B0-BE7E006DCB0A}"/>
              </a:ext>
            </a:extLst>
          </p:cNvPr>
          <p:cNvSpPr txBox="1"/>
          <p:nvPr/>
        </p:nvSpPr>
        <p:spPr>
          <a:xfrm>
            <a:off x="533400" y="698500"/>
            <a:ext cx="10985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000" b="1">
                <a:solidFill>
                  <a:srgbClr val="10253D"/>
                </a:solidFill>
                <a:latin typeface="Aptos" panose="020B0004020202020204" pitchFamily="34" charset="0"/>
              </a:rPr>
              <a:t>Relasi OD yang layak diperiksa lebih dulu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83CD01-377D-67FF-F232-1371A0BB5705}"/>
              </a:ext>
            </a:extLst>
          </p:cNvPr>
          <p:cNvSpPr/>
          <p:nvPr/>
        </p:nvSpPr>
        <p:spPr>
          <a:xfrm>
            <a:off x="533400" y="6261100"/>
            <a:ext cx="11125200" cy="12700"/>
          </a:xfrm>
          <a:prstGeom prst="rect">
            <a:avLst/>
          </a:prstGeom>
          <a:solidFill>
            <a:srgbClr val="C7D3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D0F39-2107-353C-D797-2B50EDE63389}"/>
              </a:ext>
            </a:extLst>
          </p:cNvPr>
          <p:cNvSpPr txBox="1"/>
          <p:nvPr/>
        </p:nvSpPr>
        <p:spPr>
          <a:xfrm>
            <a:off x="533400" y="6388100"/>
            <a:ext cx="1022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Sumber: outputs_ml_graph/graph_network_metrics.csv; docs/assignment2-technical-results.md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DF4CAF-C07D-8B3D-C695-BC44D662E6F3}"/>
              </a:ext>
            </a:extLst>
          </p:cNvPr>
          <p:cNvSpPr txBox="1"/>
          <p:nvPr/>
        </p:nvSpPr>
        <p:spPr>
          <a:xfrm>
            <a:off x="10756900" y="63881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09 / 12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7DD613-91FA-F7FF-F3AE-3D85B5C2C008}"/>
              </a:ext>
            </a:extLst>
          </p:cNvPr>
          <p:cNvSpPr/>
          <p:nvPr/>
        </p:nvSpPr>
        <p:spPr>
          <a:xfrm>
            <a:off x="533400" y="1765300"/>
            <a:ext cx="5969000" cy="4013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F32E56-39C5-6A64-57FB-D32C44FE495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1965741"/>
            <a:ext cx="5740400" cy="35234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6A6654-11E5-4D7B-A02F-8EC69E7EDF15}"/>
              </a:ext>
            </a:extLst>
          </p:cNvPr>
          <p:cNvSpPr txBox="1"/>
          <p:nvPr/>
        </p:nvSpPr>
        <p:spPr>
          <a:xfrm>
            <a:off x="6807200" y="1917700"/>
            <a:ext cx="381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500" b="1">
                <a:solidFill>
                  <a:srgbClr val="10253D"/>
                </a:solidFill>
                <a:latin typeface="Aptos" panose="020B0004020202020204" pitchFamily="34" charset="0"/>
              </a:rPr>
              <a:t>SP → RJ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D3706C-EEF1-C988-F8C6-0A7FD030AD40}"/>
              </a:ext>
            </a:extLst>
          </p:cNvPr>
          <p:cNvSpPr txBox="1"/>
          <p:nvPr/>
        </p:nvSpPr>
        <p:spPr>
          <a:xfrm>
            <a:off x="6807200" y="2413000"/>
            <a:ext cx="469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87E85"/>
                </a:solidFill>
                <a:latin typeface="Aptos" panose="020B0004020202020204" pitchFamily="34" charset="0"/>
              </a:rPr>
              <a:t>8.158 order  •  1.264 terlambat  •  15,49%</a:t>
            </a:r>
            <a:endParaRPr lang="en-ID" sz="1700" b="1">
              <a:solidFill>
                <a:srgbClr val="087E85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CF1926-CF2C-5BAB-2D5A-D267C31C02DF}"/>
              </a:ext>
            </a:extLst>
          </p:cNvPr>
          <p:cNvSpPr txBox="1"/>
          <p:nvPr/>
        </p:nvSpPr>
        <p:spPr>
          <a:xfrm>
            <a:off x="6807200" y="3302000"/>
            <a:ext cx="4699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700">
                <a:solidFill>
                  <a:srgbClr val="173049"/>
                </a:solidFill>
                <a:latin typeface="Aptos" panose="020B0004020202020204" pitchFamily="34" charset="0"/>
              </a:rPr>
              <a:t>PageRank tertinggi: SP 0,2997. Betweenness topologis tertinggi: MG 0,0506.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D20045-5596-E875-390D-DA3F4BB3149F}"/>
              </a:ext>
            </a:extLst>
          </p:cNvPr>
          <p:cNvSpPr txBox="1"/>
          <p:nvPr/>
        </p:nvSpPr>
        <p:spPr>
          <a:xfrm>
            <a:off x="6807200" y="4572000"/>
            <a:ext cx="4699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500">
                <a:solidFill>
                  <a:srgbClr val="54707D"/>
                </a:solidFill>
                <a:latin typeface="Aptos" panose="020B0004020202020204" pitchFamily="34" charset="0"/>
              </a:rPr>
              <a:t>SP→MA dan SP→AL memiliki rate lebih tinggi, tetapi volume lebih kecil; selalu tampilkan pembilang dan penyebut.</a:t>
            </a:r>
          </a:p>
        </p:txBody>
      </p:sp>
    </p:spTree>
    <p:extLst>
      <p:ext uri="{BB962C8B-B14F-4D97-AF65-F5344CB8AC3E}">
        <p14:creationId xmlns:p14="http://schemas.microsoft.com/office/powerpoint/2010/main" val="1256995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1A0892-EB87-8078-E974-FBF2E70307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95428E-6703-CF92-E743-654AF8F08451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6F281-99CC-95D0-4D67-BE17E0C87A41}"/>
              </a:ext>
            </a:extLst>
          </p:cNvPr>
          <p:cNvSpPr txBox="1"/>
          <p:nvPr/>
        </p:nvSpPr>
        <p:spPr>
          <a:xfrm>
            <a:off x="533400" y="3556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100" b="1">
                <a:solidFill>
                  <a:srgbClr val="087E85"/>
                </a:solidFill>
                <a:latin typeface="Aptos" panose="020B0004020202020204" pitchFamily="34" charset="0"/>
              </a:rPr>
              <a:t>IMPLIKASI BISNIS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E61A01-AFDB-A685-FC6E-DBE6AC0ADFAA}"/>
              </a:ext>
            </a:extLst>
          </p:cNvPr>
          <p:cNvSpPr txBox="1"/>
          <p:nvPr/>
        </p:nvSpPr>
        <p:spPr>
          <a:xfrm>
            <a:off x="533400" y="698500"/>
            <a:ext cx="10985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000" b="1">
                <a:solidFill>
                  <a:srgbClr val="10253D"/>
                </a:solidFill>
                <a:latin typeface="Aptos" panose="020B0004020202020204" pitchFamily="34" charset="0"/>
              </a:rPr>
              <a:t>Usulan tindak lanjut yang bisa diuji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58F9B5-86CB-0713-1160-B16D3AF96C68}"/>
              </a:ext>
            </a:extLst>
          </p:cNvPr>
          <p:cNvSpPr/>
          <p:nvPr/>
        </p:nvSpPr>
        <p:spPr>
          <a:xfrm>
            <a:off x="533400" y="6261100"/>
            <a:ext cx="11125200" cy="12700"/>
          </a:xfrm>
          <a:prstGeom prst="rect">
            <a:avLst/>
          </a:prstGeom>
          <a:solidFill>
            <a:srgbClr val="C7D3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EBB1A-BBD5-24C8-1C48-9236CE72C47A}"/>
              </a:ext>
            </a:extLst>
          </p:cNvPr>
          <p:cNvSpPr txBox="1"/>
          <p:nvPr/>
        </p:nvSpPr>
        <p:spPr>
          <a:xfrm>
            <a:off x="533400" y="6388100"/>
            <a:ext cx="1022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Dasar: metrik test, skenario alert, dan graf OD; belum diuji sebagai intervensi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264BB2-5D93-96F4-3784-2AB993728895}"/>
              </a:ext>
            </a:extLst>
          </p:cNvPr>
          <p:cNvSpPr txBox="1"/>
          <p:nvPr/>
        </p:nvSpPr>
        <p:spPr>
          <a:xfrm>
            <a:off x="10756900" y="63881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10 / 12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89EF4A-F02D-A900-D27F-4A1636FCDD70}"/>
              </a:ext>
            </a:extLst>
          </p:cNvPr>
          <p:cNvSpPr/>
          <p:nvPr/>
        </p:nvSpPr>
        <p:spPr>
          <a:xfrm>
            <a:off x="533400" y="1828800"/>
            <a:ext cx="3429000" cy="336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A3A38F-3AD8-737B-7ECB-13DBD1CCFFBF}"/>
              </a:ext>
            </a:extLst>
          </p:cNvPr>
          <p:cNvSpPr/>
          <p:nvPr/>
        </p:nvSpPr>
        <p:spPr>
          <a:xfrm>
            <a:off x="533400" y="1828800"/>
            <a:ext cx="76200" cy="33655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D847F1-7924-B480-95A9-7D27B1EB3E22}"/>
              </a:ext>
            </a:extLst>
          </p:cNvPr>
          <p:cNvSpPr txBox="1"/>
          <p:nvPr/>
        </p:nvSpPr>
        <p:spPr>
          <a:xfrm>
            <a:off x="774700" y="2057400"/>
            <a:ext cx="294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1 / PILOT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233ECA-9C71-8700-BD02-0306C0B03FE5}"/>
              </a:ext>
            </a:extLst>
          </p:cNvPr>
          <p:cNvSpPr txBox="1"/>
          <p:nvPr/>
        </p:nvSpPr>
        <p:spPr>
          <a:xfrm>
            <a:off x="774700" y="2438400"/>
            <a:ext cx="294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Tinjau manual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41C16-9F77-9149-A114-1D78027CE3B6}"/>
              </a:ext>
            </a:extLst>
          </p:cNvPr>
          <p:cNvSpPr txBox="1"/>
          <p:nvPr/>
        </p:nvSpPr>
        <p:spPr>
          <a:xfrm>
            <a:off x="774700" y="3200400"/>
            <a:ext cx="2946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173049"/>
                </a:solidFill>
                <a:latin typeface="Aptos" panose="020B0004020202020204" pitchFamily="34" charset="0"/>
              </a:rPr>
              <a:t>Uji daftar risiko kecil dengan tim operasional; catat biaya review dan false positive.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27B1D4-D2EC-BE16-1F42-4D12C2F64FC3}"/>
              </a:ext>
            </a:extLst>
          </p:cNvPr>
          <p:cNvSpPr/>
          <p:nvPr/>
        </p:nvSpPr>
        <p:spPr>
          <a:xfrm>
            <a:off x="4152900" y="1828800"/>
            <a:ext cx="3429000" cy="336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7AE3FC-4E38-F794-ADE9-910DF0C52627}"/>
              </a:ext>
            </a:extLst>
          </p:cNvPr>
          <p:cNvSpPr/>
          <p:nvPr/>
        </p:nvSpPr>
        <p:spPr>
          <a:xfrm>
            <a:off x="4152900" y="1828800"/>
            <a:ext cx="76200" cy="3365500"/>
          </a:xfrm>
          <a:prstGeom prst="rect">
            <a:avLst/>
          </a:prstGeom>
          <a:solidFill>
            <a:srgbClr val="D783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FA1D64-79EA-A09F-32E3-25198AAEF81B}"/>
              </a:ext>
            </a:extLst>
          </p:cNvPr>
          <p:cNvSpPr txBox="1"/>
          <p:nvPr/>
        </p:nvSpPr>
        <p:spPr>
          <a:xfrm>
            <a:off x="4394200" y="2057400"/>
            <a:ext cx="2946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2 / PRIORITAS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7C421B-A858-E9B6-9A57-4763B6571F36}"/>
              </a:ext>
            </a:extLst>
          </p:cNvPr>
          <p:cNvSpPr txBox="1"/>
          <p:nvPr/>
        </p:nvSpPr>
        <p:spPr>
          <a:xfrm>
            <a:off x="4394200" y="2438400"/>
            <a:ext cx="294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Pantau OD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CCC705-1D25-7C21-8E77-E61B28F0DF8C}"/>
              </a:ext>
            </a:extLst>
          </p:cNvPr>
          <p:cNvSpPr txBox="1"/>
          <p:nvPr/>
        </p:nvSpPr>
        <p:spPr>
          <a:xfrm>
            <a:off x="4394200" y="3200400"/>
            <a:ext cx="29464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>
                <a:solidFill>
                  <a:srgbClr val="173049"/>
                </a:solidFill>
                <a:latin typeface="Aptos" panose="020B0004020202020204" pitchFamily="34" charset="0"/>
              </a:rPr>
              <a:t>Periksa volume dan delay SP→RJ; bandingkan dengan rute lain memakai denominator.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4D111E8-6F81-BE06-B3EF-EE744052C3D0}"/>
              </a:ext>
            </a:extLst>
          </p:cNvPr>
          <p:cNvSpPr/>
          <p:nvPr/>
        </p:nvSpPr>
        <p:spPr>
          <a:xfrm>
            <a:off x="7772400" y="1828800"/>
            <a:ext cx="3886200" cy="336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E6A6D8-22AE-4101-16F9-AE62E6A5F982}"/>
              </a:ext>
            </a:extLst>
          </p:cNvPr>
          <p:cNvSpPr/>
          <p:nvPr/>
        </p:nvSpPr>
        <p:spPr>
          <a:xfrm>
            <a:off x="7772400" y="1828800"/>
            <a:ext cx="76200" cy="33655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BAE4D7-65E7-B2B2-7108-B4979562DF48}"/>
              </a:ext>
            </a:extLst>
          </p:cNvPr>
          <p:cNvSpPr txBox="1"/>
          <p:nvPr/>
        </p:nvSpPr>
        <p:spPr>
          <a:xfrm>
            <a:off x="8013700" y="2057400"/>
            <a:ext cx="3403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200" b="1">
                <a:solidFill>
                  <a:srgbClr val="54707D"/>
                </a:solidFill>
                <a:latin typeface="Aptos" panose="020B0004020202020204" pitchFamily="34" charset="0"/>
              </a:rPr>
              <a:t>3 / EVALUASI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6DE682-3B2C-F3AB-BF35-CB0E8BF7DAA9}"/>
              </a:ext>
            </a:extLst>
          </p:cNvPr>
          <p:cNvSpPr txBox="1"/>
          <p:nvPr/>
        </p:nvSpPr>
        <p:spPr>
          <a:xfrm>
            <a:off x="8013700" y="2438400"/>
            <a:ext cx="34036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3400" b="1">
                <a:solidFill>
                  <a:srgbClr val="10253D"/>
                </a:solidFill>
                <a:latin typeface="Aptos" panose="020B0004020202020204" pitchFamily="34" charset="0"/>
              </a:rPr>
              <a:t>Uji periode baru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4591FF-C116-430F-39AE-B0C86FEF0741}"/>
              </a:ext>
            </a:extLst>
          </p:cNvPr>
          <p:cNvSpPr txBox="1"/>
          <p:nvPr/>
        </p:nvSpPr>
        <p:spPr>
          <a:xfrm>
            <a:off x="8013700" y="3200400"/>
            <a:ext cx="34036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300">
                <a:solidFill>
                  <a:srgbClr val="173049"/>
                </a:solidFill>
                <a:latin typeface="Aptos" panose="020B0004020202020204" pitchFamily="34" charset="0"/>
              </a:rPr>
              <a:t>Pantau precision, recall, prevalensi, kalibrasi, dan perubahan komposisi data.</a:t>
            </a:r>
            <a:endParaRPr lang="en-ID" sz="1300">
              <a:solidFill>
                <a:srgbClr val="173049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4D914A-8008-02A7-74BF-6B579C9D2934}"/>
              </a:ext>
            </a:extLst>
          </p:cNvPr>
          <p:cNvSpPr txBox="1"/>
          <p:nvPr/>
        </p:nvSpPr>
        <p:spPr>
          <a:xfrm>
            <a:off x="596900" y="5549900"/>
            <a:ext cx="1104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600" b="1">
                <a:solidFill>
                  <a:srgbClr val="10253D"/>
                </a:solidFill>
                <a:latin typeface="Aptos" panose="020B0004020202020204" pitchFamily="34" charset="0"/>
              </a:rPr>
              <a:t>Keputusan otomatis atau perubahan jaringan fisik memerlukan bukti tambahan.</a:t>
            </a:r>
          </a:p>
        </p:txBody>
      </p:sp>
    </p:spTree>
    <p:extLst>
      <p:ext uri="{BB962C8B-B14F-4D97-AF65-F5344CB8AC3E}">
        <p14:creationId xmlns:p14="http://schemas.microsoft.com/office/powerpoint/2010/main" val="2393272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C0B9CA-8CDA-9B9A-181A-15860340AB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41F499-63B3-80FE-82D0-61096D4F5BB1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796A4-BF6C-FB23-036C-613C8673824C}"/>
              </a:ext>
            </a:extLst>
          </p:cNvPr>
          <p:cNvSpPr txBox="1"/>
          <p:nvPr/>
        </p:nvSpPr>
        <p:spPr>
          <a:xfrm>
            <a:off x="533400" y="3556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100" b="1">
                <a:solidFill>
                  <a:srgbClr val="087E85"/>
                </a:solidFill>
                <a:latin typeface="Aptos" panose="020B0004020202020204" pitchFamily="34" charset="0"/>
              </a:rPr>
              <a:t>TATA KELOLA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E4FD4-4FF3-5C14-17F9-C2819DC4AD8B}"/>
              </a:ext>
            </a:extLst>
          </p:cNvPr>
          <p:cNvSpPr txBox="1"/>
          <p:nvPr/>
        </p:nvSpPr>
        <p:spPr>
          <a:xfrm>
            <a:off x="533400" y="698500"/>
            <a:ext cx="10985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3000" b="1">
                <a:solidFill>
                  <a:srgbClr val="10253D"/>
                </a:solidFill>
                <a:latin typeface="Aptos" panose="020B0004020202020204" pitchFamily="34" charset="0"/>
              </a:rPr>
              <a:t>Batas penggunaan dan deklarasi AI</a:t>
            </a:r>
            <a:endParaRPr lang="en-ID" sz="3000" b="1">
              <a:solidFill>
                <a:srgbClr val="10253D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9AEE02-EC38-7289-A5DD-FC7B2011DCC0}"/>
              </a:ext>
            </a:extLst>
          </p:cNvPr>
          <p:cNvSpPr/>
          <p:nvPr/>
        </p:nvSpPr>
        <p:spPr>
          <a:xfrm>
            <a:off x="533400" y="6261100"/>
            <a:ext cx="11125200" cy="12700"/>
          </a:xfrm>
          <a:prstGeom prst="rect">
            <a:avLst/>
          </a:prstGeom>
          <a:solidFill>
            <a:srgbClr val="C7D3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2DA650-543E-E05E-A3CA-522EB5196163}"/>
              </a:ext>
            </a:extLst>
          </p:cNvPr>
          <p:cNvSpPr txBox="1"/>
          <p:nvPr/>
        </p:nvSpPr>
        <p:spPr>
          <a:xfrm>
            <a:off x="533400" y="6388100"/>
            <a:ext cx="1022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Sumber: laporan Assignment II, halaman 31; formulir menunggu tanda tangan mahasiswa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632432-5040-107C-21EF-3A1DADC3E8FD}"/>
              </a:ext>
            </a:extLst>
          </p:cNvPr>
          <p:cNvSpPr txBox="1"/>
          <p:nvPr/>
        </p:nvSpPr>
        <p:spPr>
          <a:xfrm>
            <a:off x="10756900" y="6388100"/>
            <a:ext cx="88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D" sz="900">
                <a:solidFill>
                  <a:srgbClr val="54707D"/>
                </a:solidFill>
                <a:latin typeface="Aptos" panose="020B0004020202020204" pitchFamily="34" charset="0"/>
              </a:rPr>
              <a:t>11 / 12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BB5ED0-DF35-38DA-D503-98A60E739515}"/>
              </a:ext>
            </a:extLst>
          </p:cNvPr>
          <p:cNvSpPr/>
          <p:nvPr/>
        </p:nvSpPr>
        <p:spPr>
          <a:xfrm>
            <a:off x="533400" y="1765300"/>
            <a:ext cx="5308600" cy="39497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C0FB5-AEE8-D358-80FD-1677ADF5A481}"/>
              </a:ext>
            </a:extLst>
          </p:cNvPr>
          <p:cNvSpPr txBox="1"/>
          <p:nvPr/>
        </p:nvSpPr>
        <p:spPr>
          <a:xfrm>
            <a:off x="774700" y="2006600"/>
            <a:ext cx="4635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000" b="1">
                <a:solidFill>
                  <a:srgbClr val="087E85"/>
                </a:solidFill>
                <a:latin typeface="Aptos" panose="020B0004020202020204" pitchFamily="34" charset="0"/>
              </a:rPr>
              <a:t>Data &amp;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A51844-65A3-8EAF-B7BA-272EC4398E89}"/>
              </a:ext>
            </a:extLst>
          </p:cNvPr>
          <p:cNvSpPr txBox="1"/>
          <p:nvPr/>
        </p:nvSpPr>
        <p:spPr>
          <a:xfrm>
            <a:off x="774700" y="2603500"/>
            <a:ext cx="4635500" cy="147732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600">
                <a:solidFill>
                  <a:srgbClr val="173049"/>
                </a:solidFill>
                <a:latin typeface="Aptos" panose="020B0004020202020204" pitchFamily="34" charset="0"/>
              </a:rPr>
              <a:t>• Hasil agregat dipublikasikan; prediksi per-order dan raw data tetap lokal.
• Spark diuji pada satu mesin, bukan cluster produksi.
• Ambang skor belum disahkan untuk tindakan otomatis.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7D2ADD-E7B8-EDCE-C514-9A532DBE77FB}"/>
              </a:ext>
            </a:extLst>
          </p:cNvPr>
          <p:cNvSpPr/>
          <p:nvPr/>
        </p:nvSpPr>
        <p:spPr>
          <a:xfrm>
            <a:off x="6108700" y="1765300"/>
            <a:ext cx="5549900" cy="3949700"/>
          </a:xfrm>
          <a:prstGeom prst="roundRect">
            <a:avLst/>
          </a:prstGeom>
          <a:solidFill>
            <a:srgbClr val="E4EF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CBC60-1B96-F936-1A07-AD1AC97724B3}"/>
              </a:ext>
            </a:extLst>
          </p:cNvPr>
          <p:cNvSpPr txBox="1"/>
          <p:nvPr/>
        </p:nvSpPr>
        <p:spPr>
          <a:xfrm>
            <a:off x="6362700" y="2006600"/>
            <a:ext cx="4851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000" b="1">
                <a:solidFill>
                  <a:srgbClr val="087E85"/>
                </a:solidFill>
                <a:latin typeface="Aptos" panose="020B0004020202020204" pitchFamily="34" charset="0"/>
              </a:rPr>
              <a:t>AI Use Declaration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C94C86-1CE4-68CF-FEEB-565F66215BB9}"/>
              </a:ext>
            </a:extLst>
          </p:cNvPr>
          <p:cNvSpPr txBox="1"/>
          <p:nvPr/>
        </p:nvSpPr>
        <p:spPr>
          <a:xfrm>
            <a:off x="6362700" y="2667000"/>
            <a:ext cx="482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700" b="1">
                <a:solidFill>
                  <a:srgbClr val="10253D"/>
                </a:solidFill>
                <a:latin typeface="Aptos" panose="020B0004020202020204" pitchFamily="34" charset="0"/>
              </a:rPr>
              <a:t>Type 2 / Partial Use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4EEB64-741D-B279-7BDE-C9FE7D250E4D}"/>
              </a:ext>
            </a:extLst>
          </p:cNvPr>
          <p:cNvSpPr txBox="1"/>
          <p:nvPr/>
        </p:nvSpPr>
        <p:spPr>
          <a:xfrm>
            <a:off x="6362700" y="3276600"/>
            <a:ext cx="482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000" b="1">
                <a:solidFill>
                  <a:srgbClr val="10253D"/>
                </a:solidFill>
                <a:latin typeface="Aptos" panose="020B0004020202020204" pitchFamily="34" charset="0"/>
              </a:rPr>
              <a:t>Estimasi mahasiswa: 15%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B57147-48E7-8B6A-0190-098FF1052504}"/>
              </a:ext>
            </a:extLst>
          </p:cNvPr>
          <p:cNvSpPr txBox="1"/>
          <p:nvPr/>
        </p:nvSpPr>
        <p:spPr>
          <a:xfrm>
            <a:off x="6362700" y="4000500"/>
            <a:ext cx="4826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600">
                <a:solidFill>
                  <a:srgbClr val="173049"/>
                </a:solidFill>
                <a:latin typeface="Aptos" panose="020B0004020202020204" pitchFamily="34" charset="0"/>
              </a:rPr>
              <a:t>Bantuan kode, visualisasi, draf teks, dan format dokumen diungkapkan. Mahasiswa harus memeriksa interpretasi akhir dan menandatangani formulir.</a:t>
            </a:r>
          </a:p>
        </p:txBody>
      </p:sp>
    </p:spTree>
    <p:extLst>
      <p:ext uri="{BB962C8B-B14F-4D97-AF65-F5344CB8AC3E}">
        <p14:creationId xmlns:p14="http://schemas.microsoft.com/office/powerpoint/2010/main" val="2043425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C52757-5520-E23A-1D71-D96C448A99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A112C9-EF7B-AF76-449F-6DEF29C0F8DD}"/>
              </a:ext>
            </a:extLst>
          </p:cNvPr>
          <p:cNvSpPr/>
          <p:nvPr/>
        </p:nvSpPr>
        <p:spPr>
          <a:xfrm>
            <a:off x="0" y="0"/>
            <a:ext cx="165100" cy="6858000"/>
          </a:xfrm>
          <a:prstGeom prst="rect">
            <a:avLst/>
          </a:prstGeom>
          <a:solidFill>
            <a:srgbClr val="087E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7B89C-EE1D-BFCB-473F-517B0E175E1B}"/>
              </a:ext>
            </a:extLst>
          </p:cNvPr>
          <p:cNvSpPr txBox="1"/>
          <p:nvPr/>
        </p:nvSpPr>
        <p:spPr>
          <a:xfrm>
            <a:off x="749300" y="787400"/>
            <a:ext cx="762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300" b="1">
                <a:solidFill>
                  <a:srgbClr val="CDEAE6"/>
                </a:solidFill>
                <a:latin typeface="Aptos" panose="020B0004020202020204" pitchFamily="34" charset="0"/>
              </a:rPr>
              <a:t>KESIMPULAN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F653E-C5C2-DCE1-D010-C4C8E995EF8B}"/>
              </a:ext>
            </a:extLst>
          </p:cNvPr>
          <p:cNvSpPr txBox="1"/>
          <p:nvPr/>
        </p:nvSpPr>
        <p:spPr>
          <a:xfrm>
            <a:off x="749300" y="1651000"/>
            <a:ext cx="10414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4200" b="1">
                <a:solidFill>
                  <a:srgbClr val="FFFFFF"/>
                </a:solidFill>
                <a:latin typeface="Aptos" panose="020B0004020202020204" pitchFamily="34" charset="0"/>
              </a:rPr>
              <a:t>Model memberi sinyal;
keputusan perlu validasi</a:t>
            </a:r>
            <a:endParaRPr lang="en-ID" sz="4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96F1F-E2DC-3B61-2526-9DE2DF80346B}"/>
              </a:ext>
            </a:extLst>
          </p:cNvPr>
          <p:cNvSpPr txBox="1"/>
          <p:nvPr/>
        </p:nvSpPr>
        <p:spPr>
          <a:xfrm>
            <a:off x="774700" y="4051300"/>
            <a:ext cx="10541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100">
                <a:solidFill>
                  <a:srgbClr val="CDEAE6"/>
                </a:solidFill>
                <a:latin typeface="Aptos" panose="020B0004020202020204" pitchFamily="34" charset="0"/>
              </a:rPr>
              <a:t>F1 temporal terbaik dari tiga kandidat: 0,1785. Graf OD menunjukkan konsentrasi order, bukan jalur fisik.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65A1C-7F35-BC1D-C963-16447008B335}"/>
              </a:ext>
            </a:extLst>
          </p:cNvPr>
          <p:cNvSpPr txBox="1"/>
          <p:nvPr/>
        </p:nvSpPr>
        <p:spPr>
          <a:xfrm>
            <a:off x="774700" y="5930900"/>
            <a:ext cx="10033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1900">
                <a:solidFill>
                  <a:srgbClr val="FFFFFF"/>
                </a:solidFill>
                <a:latin typeface="Aptos" panose="020B0004020202020204" pitchFamily="34" charset="0"/>
              </a:rPr>
              <a:t>Terima kasih  •  Tanya jawab</a:t>
            </a:r>
          </a:p>
        </p:txBody>
      </p:sp>
    </p:spTree>
    <p:extLst>
      <p:ext uri="{BB962C8B-B14F-4D97-AF65-F5344CB8AC3E}">
        <p14:creationId xmlns:p14="http://schemas.microsoft.com/office/powerpoint/2010/main" val="105616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1066</Words>
  <Application>Microsoft Office PowerPoint</Application>
  <PresentationFormat>Custom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Yanlis Alim Sang Putra Lase</dc:creator>
  <cp:lastModifiedBy>Yanlis Alim Sang Putra Lase</cp:lastModifiedBy>
  <cp:revision>1</cp:revision>
  <dcterms:created xsi:type="dcterms:W3CDTF">2026-10-19T04:50:06Z</dcterms:created>
  <dcterms:modified xsi:type="dcterms:W3CDTF">2026-10-19T04:50:06Z</dcterms:modified>
</cp:coreProperties>
</file>